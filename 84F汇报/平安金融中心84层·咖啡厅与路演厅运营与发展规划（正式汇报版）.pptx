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Relationship Id="rId9" Type="http://schemas.openxmlformats.org/officeDocument/2006/relationships/image" Target="../media/image2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695" y="2153869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O P E R A T I O N   P L A N   ·   2 0 2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2470556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C5660"/>
                </a:solidFill>
                <a:latin typeface="Arial"/>
                <a:ea typeface="PingFang SC"/>
                <a:cs typeface="Arial"/>
              </a:rPr>
              <a:t>深圳 · 平安金融中心 84 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177" y="2772918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咖啡厅与路演厅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5177" y="3573932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3582" y="461550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57C"/>
                </a:solidFill>
                <a:latin typeface="Arial"/>
                <a:ea typeface="PingFang SC"/>
                <a:cs typeface="Arial"/>
              </a:rPr>
              <a:t>以两个核心空间的高质量运营，撑起 84 层高端商务会客厅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695" y="4956048"/>
            <a:ext cx="3127248" cy="274320"/>
          </a:xfrm>
          <a:prstGeom prst="rect">
            <a:avLst/>
          </a:prstGeom>
          <a:solidFill>
            <a:srgbClr val="1E334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042001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spc="100">
                <a:solidFill>
                  <a:srgbClr val="E8631B"/>
                </a:solidFill>
                <a:latin typeface="Arial"/>
                <a:ea typeface="PingFang SC"/>
                <a:cs typeface="Arial"/>
              </a:rPr>
              <a:t>正 式 汇 报 版 · 含 五 年 收 益 测 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" y="542604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586B7E"/>
                </a:solidFill>
                <a:latin typeface="Arial"/>
                <a:ea typeface="PingFang SC"/>
                <a:cs typeface="Arial"/>
              </a:rPr>
              <a:t>汇 报 部 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" y="559551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8288"/>
                </a:solidFill>
                <a:latin typeface="Arial"/>
                <a:ea typeface="PingFang SC"/>
                <a:cs typeface="Arial"/>
              </a:rPr>
              <a:t>运营管理部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6582" y="5426049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586B7E"/>
                </a:solidFill>
                <a:latin typeface="Arial"/>
                <a:ea typeface="PingFang SC"/>
                <a:cs typeface="Arial"/>
              </a:rPr>
              <a:t>汇 报 时 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6582" y="559551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8288"/>
                </a:solidFill>
                <a:latin typeface="Arial"/>
                <a:ea typeface="PingFang SC"/>
                <a:cs typeface="Arial"/>
              </a:rPr>
              <a:t>2026 / 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42604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586B7E"/>
                </a:solidFill>
                <a:latin typeface="Arial"/>
                <a:ea typeface="PingFang SC"/>
                <a:cs typeface="Arial"/>
              </a:rPr>
              <a:t>数 据 口 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59551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8288"/>
                </a:solidFill>
                <a:latin typeface="Arial"/>
                <a:ea typeface="PingFang SC"/>
                <a:cs typeface="Arial"/>
              </a:rPr>
              <a:t>五年收益测算表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" y="607954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08B62"/>
                </a:solidFill>
                <a:latin typeface="Arial"/>
                <a:ea typeface="PingFang SC"/>
                <a:cs typeface="Arial"/>
              </a:rPr>
              <a:t>咖啡厅 · 城市客厅 Lounge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1156" y="6093409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6A76"/>
                </a:solidFill>
                <a:latin typeface="Arial"/>
                <a:ea typeface="PingFang SC"/>
                <a:cs typeface="Arial"/>
              </a:rPr>
              <a:t>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60795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3A4"/>
                </a:solidFill>
                <a:latin typeface="Arial"/>
                <a:ea typeface="PingFang SC"/>
                <a:cs typeface="Arial"/>
              </a:rPr>
              <a:t>路演厅 · 多功能区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485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3E5164"/>
                </a:solidFill>
                <a:latin typeface="Arial"/>
                <a:ea typeface="PingFang SC"/>
                <a:cs typeface="Arial"/>
              </a:rPr>
              <a:t>P A F C · 8 4 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04818" y="0"/>
            <a:ext cx="10160" cy="6858000"/>
          </a:xfrm>
          <a:prstGeom prst="rect">
            <a:avLst/>
          </a:prstGeom>
          <a:solidFill>
            <a:srgbClr val="2435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695" y="1554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60">
                <a:solidFill>
                  <a:srgbClr val="2F3841"/>
                </a:solidFill>
                <a:latin typeface="Arial"/>
                <a:ea typeface="PingFang SC"/>
                <a:cs typeface="Arial"/>
              </a:rPr>
              <a:t>C O N T E N T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4708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汇报目录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695" y="495604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5B6E82"/>
                </a:solidFill>
                <a:latin typeface="Arial"/>
                <a:ea typeface="PingFang SC"/>
                <a:cs typeface="Arial"/>
              </a:rPr>
              <a:t>本 次 运 营 范 围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  <a:spcAft>
                <a:spcPts val="0"/>
              </a:spcAft>
            </a:pPr>
            <a:r>
              <a:rPr sz="800" b="0">
                <a:solidFill>
                  <a:srgbClr val="A16A46"/>
                </a:solidFill>
                <a:latin typeface="Arial"/>
                <a:ea typeface="PingFang SC"/>
                <a:cs typeface="Arial"/>
              </a:rPr>
              <a:t>咖啡厅（城市客厅 Lounge）与路演厅（多功能区）；</a:t>
            </a:r>
          </a:p>
          <a:p>
            <a:pPr algn="l">
              <a:lnSpc>
                <a:spcPct val="132000"/>
              </a:lnSpc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616A72"/>
                </a:solidFill>
                <a:latin typeface="Arial"/>
                <a:ea typeface="PingFang SC"/>
                <a:cs typeface="Arial"/>
              </a:rPr>
              <a:t>短期办公区（约 600 ㎡）不在本次运营范围内。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3984" y="1055065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064361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46A80"/>
                </a:solidFill>
                <a:latin typeface="Arial"/>
                <a:ea typeface="PingFang SC"/>
                <a:cs typeface="Arial"/>
              </a:rPr>
              <a:t>定位与空间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147572"/>
            <a:ext cx="5843016" cy="6350"/>
          </a:xfrm>
          <a:prstGeom prst="rect">
            <a:avLst/>
          </a:prstGeom>
          <a:solidFill>
            <a:srgbClr val="2736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4" y="125989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0211" y="125989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9EA1"/>
                </a:solidFill>
                <a:latin typeface="Arial"/>
                <a:ea typeface="PingFang SC"/>
                <a:cs typeface="Arial"/>
              </a:rPr>
              <a:t>项目背景与项目定位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1343101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从「加一个咖啡厅」到「一个会客体系」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1343101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03–04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4" y="1525219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155707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0211" y="155707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9EA1"/>
                </a:solidFill>
                <a:latin typeface="Arial"/>
                <a:ea typeface="PingFang SC"/>
                <a:cs typeface="Arial"/>
              </a:rPr>
              <a:t>空间规划及功能关系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640281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两个空间在 84 层里的位置与角色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1640281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05–08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3984" y="1822399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4" y="196032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969617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46A80"/>
                </a:solidFill>
                <a:latin typeface="Arial"/>
                <a:ea typeface="PingFang SC"/>
                <a:cs typeface="Arial"/>
              </a:rPr>
              <a:t>运营主体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052828"/>
            <a:ext cx="5843016" cy="6350"/>
          </a:xfrm>
          <a:prstGeom prst="rect">
            <a:avLst/>
          </a:prstGeom>
          <a:solidFill>
            <a:srgbClr val="2736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3984" y="216514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0211" y="216514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核心空间一 · 咖啡厅运营规划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3587" y="2214676"/>
            <a:ext cx="402336" cy="169164"/>
          </a:xfrm>
          <a:prstGeom prst="rect">
            <a:avLst/>
          </a:prstGeom>
          <a:solidFill>
            <a:srgbClr val="3A2A2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20279" y="2239517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C98A5E"/>
                </a:solidFill>
                <a:latin typeface="Arial"/>
                <a:ea typeface="PingFang SC"/>
                <a:cs typeface="Arial"/>
              </a:rPr>
              <a:t>核心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2248357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分时段运营 · 产品体系 · 接待机制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2248357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11–13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3984" y="2430475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3984" y="246232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0211" y="246232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核心空间二 · 路演厅运营规划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3587" y="2511856"/>
            <a:ext cx="402336" cy="169164"/>
          </a:xfrm>
          <a:prstGeom prst="rect">
            <a:avLst/>
          </a:prstGeom>
          <a:solidFill>
            <a:srgbClr val="3A2A2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20279" y="253669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C98A5E"/>
                </a:solidFill>
                <a:latin typeface="Arial"/>
                <a:ea typeface="PingFang SC"/>
                <a:cs typeface="Arial"/>
              </a:rPr>
              <a:t>核心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2545537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三态运营 · 活动全流程 · 闲置破解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2545537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14–16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43984" y="2727655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4" y="275950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0211" y="275950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9EA1"/>
                </a:solidFill>
                <a:latin typeface="Arial"/>
                <a:ea typeface="PingFang SC"/>
                <a:cs typeface="Arial"/>
              </a:rPr>
              <a:t>咖啡厅与路演厅联动运营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2842717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一条完整的商务活动服务链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2842717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17–18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43984" y="3024835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43984" y="305668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0211" y="305668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实际运营体系设计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39027" y="3106216"/>
            <a:ext cx="402336" cy="169164"/>
          </a:xfrm>
          <a:prstGeom prst="rect">
            <a:avLst/>
          </a:prstGeom>
          <a:solidFill>
            <a:srgbClr val="3A2A2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5720" y="3131058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C98A5E"/>
                </a:solidFill>
                <a:latin typeface="Arial"/>
                <a:ea typeface="PingFang SC"/>
                <a:cs typeface="Arial"/>
              </a:rPr>
              <a:t>核心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2208" y="3139897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六维体系 · 日常 SOP · 组织与职责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3139897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19–21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43984" y="3322015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43984" y="3459937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3469233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46A80"/>
                </a:solidFill>
                <a:latin typeface="Arial"/>
                <a:ea typeface="PingFang SC"/>
                <a:cs typeface="Arial"/>
              </a:rPr>
              <a:t>人员体系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3552444"/>
            <a:ext cx="5843016" cy="6350"/>
          </a:xfrm>
          <a:prstGeom prst="rect">
            <a:avLst/>
          </a:prstGeom>
          <a:solidFill>
            <a:srgbClr val="2736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43984" y="366476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0211" y="366476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员工职责及岗位分配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04127" y="3714292"/>
            <a:ext cx="402336" cy="169164"/>
          </a:xfrm>
          <a:prstGeom prst="rect">
            <a:avLst/>
          </a:prstGeom>
          <a:solidFill>
            <a:srgbClr val="3A2A2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60820" y="3739134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C98A5E"/>
                </a:solidFill>
                <a:latin typeface="Arial"/>
                <a:ea typeface="PingFang SC"/>
                <a:cs typeface="Arial"/>
              </a:rPr>
              <a:t>核心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22208" y="3747973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编制 · 职责 · 排班 · 高峰调配 · 人工成本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3747973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23–27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43984" y="3930091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43984" y="4068013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077309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46A80"/>
                </a:solidFill>
                <a:latin typeface="Arial"/>
                <a:ea typeface="PingFang SC"/>
                <a:cs typeface="Arial"/>
              </a:rPr>
              <a:t>持续经营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4160520"/>
            <a:ext cx="5843016" cy="6350"/>
          </a:xfrm>
          <a:prstGeom prst="rect">
            <a:avLst/>
          </a:prstGeom>
          <a:solidFill>
            <a:srgbClr val="2736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43984" y="427283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90211" y="427283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9EA1"/>
                </a:solidFill>
                <a:latin typeface="Arial"/>
                <a:ea typeface="PingFang SC"/>
                <a:cs typeface="Arial"/>
              </a:rPr>
              <a:t>客户来源与业务拓展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22208" y="4356049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客源地图 · 空间资源转商务资源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7040" y="4356049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29–30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43984" y="4538167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43984" y="457001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90211" y="457001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9EA1"/>
                </a:solidFill>
                <a:latin typeface="Arial"/>
                <a:ea typeface="PingFang SC"/>
                <a:cs typeface="Arial"/>
              </a:rPr>
              <a:t>运营节奏与阶段性发展规划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22208" y="4653229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三阶段 · 开业倒排 · 二十项提资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07040" y="4653229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31–33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43984" y="4835347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43984" y="486719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90211" y="486719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9EA1"/>
                </a:solidFill>
                <a:latin typeface="Arial"/>
                <a:ea typeface="PingFang SC"/>
                <a:cs typeface="Arial"/>
              </a:rPr>
              <a:t>未来价值与空间联动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22208" y="4950409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两个空间如何抬升整层价值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4950409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34–35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43984" y="5132527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43984" y="5270449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63440" y="5279745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46A80"/>
                </a:solidFill>
                <a:latin typeface="Arial"/>
                <a:ea typeface="PingFang SC"/>
                <a:cs typeface="Arial"/>
              </a:rPr>
              <a:t>财务测算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77840" y="5362956"/>
            <a:ext cx="5843016" cy="6350"/>
          </a:xfrm>
          <a:prstGeom prst="rect">
            <a:avLst/>
          </a:prstGeom>
          <a:solidFill>
            <a:srgbClr val="2736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43984" y="547527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90211" y="547527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五年收益测算与盈亏平衡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34327" y="5524804"/>
            <a:ext cx="402336" cy="169164"/>
          </a:xfrm>
          <a:prstGeom prst="rect">
            <a:avLst/>
          </a:prstGeom>
          <a:solidFill>
            <a:srgbClr val="3A2A2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91020" y="5549646"/>
            <a:ext cx="3840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C98A5E"/>
                </a:solidFill>
                <a:latin typeface="Arial"/>
                <a:ea typeface="PingFang SC"/>
                <a:cs typeface="Arial"/>
              </a:rPr>
              <a:t>核心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22208" y="5558485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真实测算数据 · 情景 · 现金流 · 杠杆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07040" y="5558485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37–43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443984" y="5740603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43984" y="577245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附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90211" y="577245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A9EA1"/>
                </a:solidFill>
                <a:latin typeface="Arial"/>
                <a:ea typeface="PingFang SC"/>
                <a:cs typeface="Arial"/>
              </a:rPr>
              <a:t>仍待确认的数据与决策事项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22208" y="5855665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889"/>
                </a:solidFill>
                <a:latin typeface="Arial"/>
                <a:ea typeface="PingFang SC"/>
                <a:cs typeface="Arial"/>
              </a:rPr>
              <a:t>四组数据 · 六件事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07040" y="5855665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6377"/>
                </a:solidFill>
                <a:latin typeface="Arial"/>
                <a:ea typeface="PingFang SC"/>
                <a:cs typeface="Arial"/>
              </a:rPr>
              <a:t>44–45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443984" y="6037783"/>
            <a:ext cx="6975043" cy="6350"/>
          </a:xfrm>
          <a:prstGeom prst="rect">
            <a:avLst/>
          </a:prstGeom>
          <a:solidFill>
            <a:srgbClr val="212C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1695" y="6409944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6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32720" y="6400800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项目背景与项目定位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84 层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是一个路口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它是塔楼高区的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空中大堂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——首层由穿梭梯点对点直达此层，再换区间梯上行至高区各办公楼层。这意味着咖啡厅不需要「引流」：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它本来就站在这栋楼最繁忙的一条内部动线上。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42639"/>
            <a:ext cx="512064" cy="196596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5549" y="375498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83—84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9203" y="2193645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9203" y="23547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高区的人，每天必须在这一层落地换乘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9203" y="3247034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9203" y="340812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这是一种「捕获式客流」，不是靠营销换来的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9203" y="449153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9203" y="465261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市场周期也把业主推到了「存量运营」这一边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993" y="5054955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22.7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5217414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993" y="5381244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深圳甲级写字楼</a:t>
            </a:r>
          </a:p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整体空置率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5782" y="5054955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18.0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1892" y="5217414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5782" y="538124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福田中心区空置率</a:t>
            </a:r>
          </a:p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租金全市最高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7264" y="5133289"/>
            <a:ext cx="3429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867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莱坊在 2026 年第二季度报告中判断：投资决策正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从侧重资产升值预期，转向更加关注运营收益与自用价值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。在这样的周期里，业主的价值增长点已经不在新增供应，而在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存量空间的运营能力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——84 层改造正是这一逻辑下的动作。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9203" y="5883402"/>
            <a:ext cx="54498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8A8680"/>
                </a:solidFill>
                <a:latin typeface="Arial"/>
                <a:ea typeface="PingFang SC"/>
                <a:cs typeface="Arial"/>
              </a:rPr>
              <a:t>数据来源：莱坊《深圳甲级写字楼市场季度报告》2026 年第二季度 · 全市甲级写字楼总存量约 1,070 万㎡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项目背景与项目定位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同一批客户的两个触点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咖啡厅高频、低单价，负责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建立关系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；路演厅低频、高价值，负责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兑现关系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。合起来，才是一套完整的商务接待能力。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2204923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咖啡厅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" y="25619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城市客厅 LOUNGE · 约 525 ㎡ · 北侧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2298" y="2204923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路演厅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298" y="25619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多功能区 · 约 375 ㎡ · 西侧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3299155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承 担 什 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8604" y="3328263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日常接待、商务社交、客户等候与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轻度商务洽谈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；活动日承担签到迎宾、茶歇出品与会后续场。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" y="3844137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服 务 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604" y="3873246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楼内企业员工与来访客户、集团各条线、合作伙伴、路演活动嘉宾、重要来宾。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" y="4211726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频 次 与 价 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8604" y="4240834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每天都在发生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，单次价值低；价值来自频次、关系与场景，而不是单杯毛利。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" y="458205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怎 么 衡 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8604" y="4611166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接待承接能力、楼内企业渗透率、客户复访率、服务满意度——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不是只看咖啡毛利。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2298" y="3299155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承 担 什 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8293" y="3328263"/>
            <a:ext cx="4041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企业路演、品牌发布、行业沙龙、小型论坛、商务会议、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培训与分享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；无活动时段转为日常协作与内部会议。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2298" y="3844137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服 务 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8293" y="3873246"/>
            <a:ext cx="4041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楼内企业与集团条线的会议与活动需求、券商与创投机构、行业协会与商会、品牌方。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2298" y="4211726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频 次 与 价 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8293" y="4240834"/>
            <a:ext cx="4041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按场次发生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，单次价值高；一场活动同时带动场地、餐饮、执行与增值四类收入。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2298" y="458205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怎 么 衡 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8293" y="4611166"/>
            <a:ext cx="4041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场地使用率、活动场次与类型结构、客户复用率、单场服务价值、投诉与事故率。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908145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同一批</a:t>
            </a:r>
          </a:p>
          <a:p>
            <a:pPr algn="ctr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客户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483303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8101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同一套服务标准</a:t>
            </a:r>
          </a:p>
          <a:p>
            <a:pPr algn="ctr">
              <a:lnSpc>
                <a:spcPct val="158101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同一条动线</a:t>
            </a:r>
          </a:p>
          <a:p>
            <a:pPr algn="ctr">
              <a:lnSpc>
                <a:spcPct val="158101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同一个客户档案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582" y="5716676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同一综合体内已经有观光层、顶层餐饮、酒店宴会与商场，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唯独缺一个位于高区办公动线上、面向商务关系的会客与发布场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。84 层补的正是这个位置——所以它的定位不能是「配套」，而应当是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接待主界面。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空间规划及功能关系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两个核心空间，占据了 84 层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最好的两个景观面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2687" y="1524457"/>
            <a:ext cx="50063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72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咖啡厅在</a:t>
            </a:r>
            <a:r>
              <a:rPr sz="11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北面</a:t>
            </a:r>
            <a:r>
              <a:rPr sz="11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，路演厅在</a:t>
            </a:r>
            <a:r>
              <a:rPr sz="11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西面</a:t>
            </a:r>
            <a:r>
              <a:rPr sz="11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，两者在西北角直接相邻 —— 这意味着</a:t>
            </a:r>
            <a:r>
              <a:rPr sz="11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「接待」与「活动」之间不需要穿越核心筒</a:t>
            </a:r>
            <a:r>
              <a:rPr sz="11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，天然具备一体化服务的条件。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2687" y="2257653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功 能 空 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25765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面 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2257653"/>
            <a:ext cx="7205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面 积 占 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784" y="2611069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城市客厅 Lounge（含水吧）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0437" y="2664561"/>
            <a:ext cx="512064" cy="160020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85301" y="2659989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本次运营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557424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约 525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2624175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2622956"/>
            <a:ext cx="7205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784" y="3092958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路演厅 / 多功能区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06232" y="3146450"/>
            <a:ext cx="512064" cy="160020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1096" y="314187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本次运营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039313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约 375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7856" y="310606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3104845"/>
            <a:ext cx="7205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784" y="3567531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短期办公区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513886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约 600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7856" y="3580638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579418"/>
            <a:ext cx="7205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2687" y="4036923"/>
            <a:ext cx="50063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84 层装修面积约 1,422 ㎡（套内）。上表为规划口径面积与占比，三区合计 1,500 ㎡ 与套内口径存在差异，最终以竣工测绘为准。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6598" y="43903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景观面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6598" y="4850434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199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84 层四面均为城市景观面，而其中</a:t>
            </a: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北面（莲花山与市民中心）与西面（深圳湾与后海）</a:t>
            </a:r>
            <a:r>
              <a:rPr sz="9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两个最具展示价值的立面，恰好分配给了咖啡厅与路演厅。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空间规划及功能关系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一位客户在 84 层的完整动线，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七成时间在我们这里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419301"/>
            <a:ext cx="106518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39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从预约到送客的八环节里，只有「抵达登记」与「电梯换乘」由大厦公共系统完成；</a:t>
            </a:r>
            <a:r>
              <a:rPr sz="11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其余环节全部发生在咖啡厅与路演厅内</a:t>
            </a:r>
            <a:r>
              <a:rPr sz="11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。客户对 84 层的印象基本等于对这两个空间的印象。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0492" y="433974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0492" y="449016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预约与需求确认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0492" y="4721809"/>
            <a:ext cx="1133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接待单/活动单登记，明确人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数、时段、餐饮与设备需求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492" y="5083149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咖啡厅前台</a:t>
            </a: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受理并建档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9387" y="433974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9387" y="449016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抵达大堂 · 访客登记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9387" y="4721809"/>
            <a:ext cx="1133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大厦访客系统登记、安检与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放行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9387" y="5083149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大厦公共系统 · 我方提前推送到访名单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8282" y="433974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8282" y="449016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穿梭梯换乘至 84 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8282" y="4721809"/>
            <a:ext cx="1133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按分区换乘，重要客户由专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人于换乘层接引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8282" y="5083149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大厦公共系统 · </a:t>
            </a: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VIP 由接待陪同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8092" y="433974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8092" y="449016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84 层前厅迎宾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8092" y="4721809"/>
            <a:ext cx="1133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迎宾问候、确认预约、寄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存、指引洗手间与网络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8092" y="5083149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咖啡厅接待岗</a:t>
            </a: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为 84 层第一触点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0703" y="433974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0703" y="449016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入座接待与轻洽谈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0703" y="4721809"/>
            <a:ext cx="1133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引导入座、桌边送杯，等候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或进行小型商务洽谈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0703" y="5083149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咖啡厅</a:t>
            </a: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按接待标准出品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9598" y="433974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9598" y="449016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路演厅活动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9598" y="4721809"/>
            <a:ext cx="1133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签到、入场、设备保障、主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持与流程协调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9598" y="5083149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路演厅</a:t>
            </a: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主责 · 咖啡厅派员支援签到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8493" y="433974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8493" y="449016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茶歇与会后交流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8493" y="4721809"/>
            <a:ext cx="1133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茶歇台出品与补台，会后转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入咖啡厅继续洽谈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8493" y="5083149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咖啡厅</a:t>
            </a: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与</a:t>
            </a: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路演厅</a:t>
            </a: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同时在场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7388" y="433974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7388" y="449016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送客 · 复盘 · 回访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7388" y="4721809"/>
            <a:ext cx="1133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送客至电梯厅；有延伸需求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者转入短期办公区或楼内其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他资源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7388" y="5232196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咖啡厅前台</a:t>
            </a: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当日复盘、三日内回访并归档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" y="6080607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咖啡厅主责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021" y="6080607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路演厅主责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36215" y="6080607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大厦公共系统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空间规划及功能关系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先说清楚一件事：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哪些是实拍，哪些是参考图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本报告只有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楼体与片区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有公开实拍照片；84 层室内目前</a:t>
            </a:r>
            <a:r>
              <a:rPr sz="10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没有可用实拍，也没有效果图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。因此后续所有室内画面都按参考图标注，不冒充落地效果。</a:t>
            </a:r>
          </a:p>
        </p:txBody>
      </p:sp>
      <p:pic>
        <p:nvPicPr>
          <p:cNvPr id="10" name="Picture 9" descr="p_tow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1" y="1975104"/>
            <a:ext cx="3452774" cy="2011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7181" y="3803904"/>
            <a:ext cx="640080" cy="18288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" y="383971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实拍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7181" y="4110228"/>
            <a:ext cx="345277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7181" y="4268876"/>
            <a:ext cx="345277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平安金融中心 · 塔楼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181" y="4488637"/>
            <a:ext cx="34527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楼体外景公开实拍。84 层位于塔楼高区，四面景观面是本项目最难被复制的一项资源。</a:t>
            </a:r>
          </a:p>
        </p:txBody>
      </p:sp>
      <p:pic>
        <p:nvPicPr>
          <p:cNvPr id="16" name="Picture 15" descr="p_b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1975104"/>
            <a:ext cx="3452774" cy="20116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66260" y="3803904"/>
            <a:ext cx="640080" cy="18288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0268" y="383971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实拍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6260" y="4110228"/>
            <a:ext cx="345277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260" y="4268876"/>
            <a:ext cx="345277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塔楼近景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6260" y="4488637"/>
            <a:ext cx="34527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超高层单塔形态，垂直动线长、电梯分区多——这是活动日人流分批到场的客观约束。</a:t>
            </a:r>
          </a:p>
        </p:txBody>
      </p:sp>
      <p:pic>
        <p:nvPicPr>
          <p:cNvPr id="22" name="Picture 21" descr="p_cb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338" y="1975104"/>
            <a:ext cx="3452774" cy="20116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965338" y="3803904"/>
            <a:ext cx="640080" cy="18288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9346" y="383971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实拍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5338" y="4110228"/>
            <a:ext cx="345277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5338" y="4268876"/>
            <a:ext cx="345277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福田 CBD 片区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5338" y="4488637"/>
            <a:ext cx="34527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项目所处片区。客群主要来自步行可达的写字楼与周边总部企业，决定了日常客流的基本盘。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7181" y="5175504"/>
            <a:ext cx="10651845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7181" y="5431536"/>
            <a:ext cx="21945" cy="18288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8621" y="5503621"/>
            <a:ext cx="236578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实拍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81" y="5773521"/>
            <a:ext cx="245722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楼体、片区等公开照片，标注「实拍」，并在《来源与授权清单》中注明作者与授权。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8722" y="5431536"/>
            <a:ext cx="21945" cy="18288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0162" y="5503621"/>
            <a:ext cx="236578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8722" y="5773521"/>
            <a:ext cx="245722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图库中与目标氛围、座型、服务动作接近的照片，标注「参考图」，只用来统一沟通语言。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0264" y="5431536"/>
            <a:ext cx="21945" cy="182880"/>
          </a:xfrm>
          <a:prstGeom prst="rect">
            <a:avLst/>
          </a:prstGeom>
          <a:solidFill>
            <a:srgbClr val="C3C8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1704" y="5503621"/>
            <a:ext cx="236578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效果图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0264" y="5773521"/>
            <a:ext cx="245722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本版本不使用效果图。深化设计出图后单独成册，并明确标注「设计效果图，非实景」。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805" y="5431536"/>
            <a:ext cx="21945" cy="182880"/>
          </a:xfrm>
          <a:prstGeom prst="rect">
            <a:avLst/>
          </a:prstGeom>
          <a:solidFill>
            <a:srgbClr val="C3C8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3245" y="5503621"/>
            <a:ext cx="236578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实景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805" y="5773521"/>
            <a:ext cx="245722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6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开业后补拍 84 层室内实景，替换本报告中的参考图，届时页码与图注同步更新。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空间规划及功能关系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八个场景，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统一一套服务语言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下面八张是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参考图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，用于把每个分区要达到的氛围、座型与服务动作讲清楚，让设计、施工与运营对同一件事有同一个画面。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181" y="1737360"/>
            <a:ext cx="10651845" cy="274320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7181" y="1737360"/>
            <a:ext cx="25603" cy="27432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00301"/>
            <a:ext cx="10332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本页图片均为公开授权图库（Openverse：CC0 / CC BY / CC BY-SA）的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参考图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，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非本项目落地实景，也不是效果图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；仅用于沟通空间氛围与服务标准。完整来源与授权见随附《来源与授权清单》。</a:t>
            </a:r>
          </a:p>
        </p:txBody>
      </p:sp>
      <p:pic>
        <p:nvPicPr>
          <p:cNvPr id="13" name="Picture 12" descr="r_b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1" y="2103120"/>
            <a:ext cx="2553004" cy="120700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67181" y="3140964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" y="3169462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7181" y="3415284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7181" y="3569665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Z1 · 中央吧台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" y="3757269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出品与迎宾同一位置、全场可视；吧台后场与出品动线需双人错身宽度。</a:t>
            </a:r>
          </a:p>
        </p:txBody>
      </p:sp>
      <p:pic>
        <p:nvPicPr>
          <p:cNvPr id="19" name="Picture 18" descr="r_loun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490" y="2103120"/>
            <a:ext cx="2553004" cy="120700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466490" y="3140964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1354" y="3169462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66490" y="3415284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6490" y="3569665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Z2 · 会客区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6490" y="3757269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沙发组 4—6 人，商务洽谈主力区；活动日转为嘉宾休息与洽谈区。</a:t>
            </a:r>
          </a:p>
        </p:txBody>
      </p:sp>
      <p:pic>
        <p:nvPicPr>
          <p:cNvPr id="25" name="Picture 24" descr="r_vi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799" y="2103120"/>
            <a:ext cx="2553004" cy="120700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165799" y="3140964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0663" y="3169462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5799" y="3415284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5799" y="3569665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Z3 · 壁炉 VIP 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5799" y="3757269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半围合、可预约独占；需独立灯控与音量分区，承接私密会谈。</a:t>
            </a:r>
          </a:p>
        </p:txBody>
      </p:sp>
      <p:pic>
        <p:nvPicPr>
          <p:cNvPr id="31" name="Picture 30" descr="r_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108" y="2103120"/>
            <a:ext cx="2553004" cy="1207008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65108" y="3140964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9972" y="3169462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5108" y="3415284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5108" y="3569665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Z4 · 景观座区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5108" y="3757269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靠窗单人与双人位，短时停留与外带等候；北面景观面。</a:t>
            </a:r>
          </a:p>
        </p:txBody>
      </p:sp>
      <p:pic>
        <p:nvPicPr>
          <p:cNvPr id="37" name="Picture 36" descr="r_theat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81" y="4151376"/>
            <a:ext cx="2553004" cy="1207008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767181" y="5189220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" y="521771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7181" y="5463540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7181" y="5617921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路演厅 · 剧院式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181" y="5805525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100—120 座，云端路演场与品牌发布场的基础座型。</a:t>
            </a:r>
          </a:p>
        </p:txBody>
      </p:sp>
      <p:pic>
        <p:nvPicPr>
          <p:cNvPr id="43" name="Picture 42" descr="r_roun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6490" y="4151376"/>
            <a:ext cx="2553004" cy="1207008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3466490" y="5189220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1354" y="521771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66490" y="5463540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66490" y="5617921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路演厅 · 闭门圆桌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66490" y="5805525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回字型 24—40 人或 U 型 20—34 人；需桌面麦与隐私音量控制。</a:t>
            </a:r>
          </a:p>
        </p:txBody>
      </p:sp>
      <p:pic>
        <p:nvPicPr>
          <p:cNvPr id="49" name="Picture 48" descr="r_te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5799" y="4151376"/>
            <a:ext cx="2553004" cy="1207008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6165799" y="5189220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20663" y="521771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65799" y="5463540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5799" y="5617921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中式茶室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65799" y="5805525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原叶茶壶泡产品线的承载场景；对应测算表中式茶室收入口径。</a:t>
            </a:r>
          </a:p>
        </p:txBody>
      </p:sp>
      <p:pic>
        <p:nvPicPr>
          <p:cNvPr id="55" name="Picture 54" descr="r_brea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5108" y="4151376"/>
            <a:ext cx="2553004" cy="1207008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8865108" y="5189220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19972" y="521771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5108" y="5463540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5108" y="5617921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茶歇台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5108" y="5805525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分三档按到场人数选配；在咖啡厅侧出品与补台，不进路演厅。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空间规划及功能关系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同一块场地，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八种用法与八组服务动作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上一页讲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空间长什么样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，这一页讲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人在里面做什么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——每一张都对应一种活动形态和一个具体岗位，人员配置与人工成本由此推导。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181" y="1737360"/>
            <a:ext cx="10651845" cy="274320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7181" y="1737360"/>
            <a:ext cx="25603" cy="27432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00301"/>
            <a:ext cx="10332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本页图片均为公开授权图库（Openverse：CC0 / CC BY / CC BY-SA）的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参考图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，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非本项目落地实景，也不是效果图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；仅用于沟通空间氛围与服务标准。完整来源与授权见随附《来源与授权清单》。</a:t>
            </a:r>
          </a:p>
        </p:txBody>
      </p:sp>
      <p:pic>
        <p:nvPicPr>
          <p:cNvPr id="13" name="Picture 12" descr="s_for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1" y="2103120"/>
            <a:ext cx="2553004" cy="120700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67181" y="3140964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" y="3169462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7181" y="3415284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7181" y="3569665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品牌发布 / 行业论坛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" y="3757269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主舞台＋主屏的基础形态；对应路演厅「品牌发布场」与「云端路演场」。</a:t>
            </a:r>
          </a:p>
        </p:txBody>
      </p:sp>
      <p:pic>
        <p:nvPicPr>
          <p:cNvPr id="19" name="Picture 18" descr="s_worksh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490" y="2103120"/>
            <a:ext cx="2553004" cy="120700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466490" y="3140964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1354" y="3169462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66490" y="3415284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6490" y="3569665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训练营 / 闭门工作坊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6490" y="3757269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桌岛＋墙面输出，半天到全天占用；对应「训练营场」。</a:t>
            </a:r>
          </a:p>
        </p:txBody>
      </p:sp>
      <p:pic>
        <p:nvPicPr>
          <p:cNvPr id="25" name="Picture 24" descr="s_studi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799" y="2103120"/>
            <a:ext cx="2553004" cy="120700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165799" y="3140964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0663" y="3169462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5799" y="3415284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5799" y="3569665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云端直播 / 录制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5799" y="3757269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灯光、背景与收音需固定位；对应「直播录制场」，与路演厅共用主屏。</a:t>
            </a:r>
          </a:p>
        </p:txBody>
      </p:sp>
      <p:pic>
        <p:nvPicPr>
          <p:cNvPr id="31" name="Picture 30" descr="s_banque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108" y="2103120"/>
            <a:ext cx="2553004" cy="1207008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65108" y="3140964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9972" y="3169462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5108" y="3415284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5108" y="3569665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酒会 / 晚宴式活动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5108" y="3757269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站立洽谈＋圆桌落座；咖啡厅侧出品补台，不在厅内设明火。</a:t>
            </a:r>
          </a:p>
        </p:txBody>
      </p:sp>
      <p:pic>
        <p:nvPicPr>
          <p:cNvPr id="37" name="Picture 36" descr="s_meet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81" y="4151376"/>
            <a:ext cx="2553004" cy="1207008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767181" y="5189220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" y="521771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7181" y="5463540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7181" y="5617921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高端会客 · 景观会议室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181" y="5805525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小规模闭门会与集团客户接待；由接待专员对接、店长兜底。</a:t>
            </a:r>
          </a:p>
        </p:txBody>
      </p:sp>
      <p:pic>
        <p:nvPicPr>
          <p:cNvPr id="43" name="Picture 42" descr="s_receptio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6490" y="4151376"/>
            <a:ext cx="2553004" cy="1207008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3466490" y="5189220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1354" y="521771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66490" y="5463540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66490" y="5617921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接待动线 · 前厅签到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66490" y="5805525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签到、引导、储物三件事同点完成；对应接待专员岗位。</a:t>
            </a:r>
          </a:p>
        </p:txBody>
      </p:sp>
      <p:pic>
        <p:nvPicPr>
          <p:cNvPr id="49" name="Picture 48" descr="s_servic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5799" y="4151376"/>
            <a:ext cx="2553004" cy="1207008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6165799" y="5189220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20663" y="521771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65799" y="5463540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5799" y="5617921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活动服务 · 茶歇补台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65799" y="5805525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托盘补台与撤台在活动间隙完成；对应活动执行岗位。</a:t>
            </a:r>
          </a:p>
        </p:txBody>
      </p:sp>
      <p:pic>
        <p:nvPicPr>
          <p:cNvPr id="55" name="Picture 54" descr="s_barista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5108" y="4151376"/>
            <a:ext cx="2553004" cy="1207008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8865108" y="5189220"/>
            <a:ext cx="658368" cy="169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19972" y="521771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参考图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5108" y="5463540"/>
            <a:ext cx="2553004" cy="635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5108" y="5617921"/>
            <a:ext cx="25530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咖啡出品 · 高峰产能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5108" y="5805525"/>
            <a:ext cx="25530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单机位出品节拍决定高峰排队长度；对应咖啡师岗位配置。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18320" y="-46939"/>
            <a:ext cx="200253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267629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60">
                <a:solidFill>
                  <a:srgbClr val="754525"/>
                </a:solidFill>
                <a:latin typeface="Arial"/>
                <a:ea typeface="PingFang SC"/>
                <a:cs typeface="Arial"/>
              </a:rPr>
              <a:t>S E C T I O N 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177" y="2903067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 spc="20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运营主体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695" y="377906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B88"/>
                </a:solidFill>
                <a:latin typeface="Arial"/>
                <a:ea typeface="PingFang SC"/>
                <a:cs typeface="Arial"/>
              </a:rPr>
              <a:t>两个空间分别怎么运营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7088" y="435025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0903" y="4317187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核心空间一 · 咖啡厅运营规划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4375251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11–13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7088" y="4638751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7088" y="476813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0903" y="4735067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核心空间二 · 路演厅运营规划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4793132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14–16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7088" y="5056631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7088" y="5186019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0903" y="51529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咖啡厅与路演厅联动运营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5211013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17–18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97088" y="5474512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7088" y="560390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0903" y="5570829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实际运营体系设计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5628894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19–21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7088" y="5892393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" y="6385102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5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核心空间一 · 咖啡厅运营规划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咖啡厅不是咖啡店，是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会客厅的服务台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这里卖的不是咖啡，是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一场高价值的商务会面能否体面地发生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。因此空间不按「点单区 / 就座区」划分，而按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会面性质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分成五个可分别管理、可分别售卖的区域。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1927555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五 区 分 管   ·   北 侧 城 市 客 厅 平 面 示 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1927555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这 里 主 要 服 务 四 类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222900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楼内企业与员工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1196" y="2258415"/>
            <a:ext cx="27578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7501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高区办公层的日常到岗与外带、内部小型碰头，是最稳定的日间客流底盘。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2710891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来访的商务客户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1196" y="2740304"/>
            <a:ext cx="27578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7501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来见楼内企业或集团条线的外部客人——他们在 84 层的第一印象，就是我们给的。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319460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集团与合作伙伴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1196" y="3224022"/>
            <a:ext cx="27578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7501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集团各专业公司的客户接待、机构调研、媒体沟通与重要来宾接待。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352379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路演活动嘉宾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1196" y="3553206"/>
            <a:ext cx="27578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7501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活动日的签到迎宾、茶歇与会后洽谈，全部发生在这个空间里。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7185" y="46195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一 个 确 认 的 判 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7185" y="4845100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442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咖啡厅的考核指标</a:t>
            </a: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不应当是咖啡毛利</a:t>
            </a: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，而应当是</a:t>
            </a: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接待承接能力、楼内企业渗透率与客户复访率。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" y="5558637"/>
            <a:ext cx="5669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需 在 图 纸 深 化 阶 段 提 出 的 两 项 运 营 条 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" y="5780684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一、壁炉区（Z3）需具备可预约独占的条件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——半围合处理、独立灯控与音量分区，否则无法承接需要私密性的商务会谈。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" y="5969965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二、品牌墙前（Z5）需预留活动签到台电源与网络点位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——这是活动日签到与迎宾的固定落位，事后补线成本极高。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核心空间一 · 咖啡厅运营规划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同一个空间，一天要切换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五种运营模式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419301"/>
            <a:ext cx="106518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班型、出品与场域状态</a:t>
            </a:r>
            <a:r>
              <a:rPr sz="11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每隔两到三小时切换一次重心</a:t>
            </a:r>
            <a:r>
              <a:rPr sz="11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，而不是从早到晚用同一套做法。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0492" y="263575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08:00 — 10:00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0492" y="290139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晨间效率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0492" y="315925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6C4831"/>
                </a:solidFill>
                <a:latin typeface="Arial"/>
                <a:ea typeface="PingFang SC"/>
                <a:cs typeface="Arial"/>
              </a:rPr>
              <a:t>E F F I C I E N C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492" y="3401415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楼内到岗员工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早到访客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0492" y="392079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出品快、动线短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外带优先，不占座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0492" y="444200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意式基础款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烘焙轻食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0492" y="506379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吧台 1（早班）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7598" y="263575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10:00 — 12:00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7598" y="290139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商务接待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7598" y="315925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R E C E P T I O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7598" y="3401415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企业客户与合作伙伴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集团及外部来访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7598" y="392079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迎宾在位、引导入座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先落座后点单，桌边送杯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7598" y="444200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接待标准杯型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茶与无咖啡因选项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7598" y="506379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吧台 1 ＋ 接待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5677" y="263575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12:00 — 14:00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5677" y="290139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午间补给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5677" y="315925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6C4831"/>
                </a:solidFill>
                <a:latin typeface="Arial"/>
                <a:ea typeface="PingFang SC"/>
                <a:cs typeface="Arial"/>
              </a:rPr>
              <a:t>R E F U E 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5677" y="3401415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楼内员工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短期办公区用户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5677" y="392079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轻简餐与快取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翻台效率优先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5677" y="444200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简餐 · 汤品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套餐组合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5677" y="506379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吧台 1 ＋ 巡场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263575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14:00 — 17:00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290139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午后洽谈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15925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N E G O T I AT I O 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3401415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商务洽谈双方、顾问与客户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小型工作会谈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392079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安静、私密、不催场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可续杯，配小食与茶点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2784" y="444200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手冲单品 · 特调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下午茶点心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506379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吧台 1 ＋ 巡场 1（洽谈高峰增援）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7188" y="263575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17:00 — 21:00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7188" y="290139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活动配套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7188" y="315925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E V E N T S U P P O 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7188" y="3401415"/>
            <a:ext cx="28218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路演厅活动嘉宾、沙龙参与者、活动主办方与媒体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7188" y="3920794"/>
            <a:ext cx="28218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茶歇台出品与补台、签到迎宾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会后洽谈续场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7188" y="4442002"/>
            <a:ext cx="28218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茶歇标准档 · 定制特调</a:t>
            </a:r>
          </a:p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无醇饮品与冷餐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7188" y="5063794"/>
            <a:ext cx="28218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170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吧台 1—2 ＋ 接待 1 ＋ 活动支援（按活动规模弹性增援）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" y="337505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主 要 客 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1695" y="389625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服 务 重 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695" y="4415637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出 品 重 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1695" y="49377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人 力 配 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10588" y="56482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切 换 靠 什 么 落 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3985" y="56482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与 路 演 厅 的 咬 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19211" y="56482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营 业 时 间 建 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10588" y="585657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423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每个模式对应一张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模式卡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：写明开放区域、桌型、音乐与灯光、出品清单、在岗人数与站位；切换由当班负责人在班次表上打点确认。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13985" y="585657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423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傍晚模式不固定，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跟着路演厅档期走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：有活动则进入活动配套模式并前置备料，无活动则维持洽谈模式、可提前收档。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19211" y="5856579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423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工作日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08:00—19:00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为基础营业时段；有活动日按活动结束时间顺延，最晚不超过 21:30，由活动订单提前锁定。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核心空间一 · 咖啡厅运营规划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「水准」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是被设计出来的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服务水准由三件很具体的东西决定：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一份短到十五秒能做决定的菜单、一个普通咖啡店没有的接待岗、一张把预约到归档串起来的接待单。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2129637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1 · P R O D U C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711" y="2129637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2 · P E O P L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2983" y="2129637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 3 · R E C E P T I O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" y="225384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产品：菜单必须短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711" y="225384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人员：多一个接待岗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2983" y="225384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机制：一张接待单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" y="26231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常驻饮品控制在 18—24 个</a:t>
            </a: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，一页 A4、中英双语、十五秒内可决定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695" y="3200400"/>
            <a:ext cx="960120" cy="196596"/>
          </a:xfrm>
          <a:prstGeom prst="rect">
            <a:avLst/>
          </a:prstGeom>
          <a:noFill/>
          <a:ln w="6350">
            <a:solidFill>
              <a:srgbClr val="E8A57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" y="3228746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意式基底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7652" y="3200400"/>
            <a:ext cx="1481328" cy="196596"/>
          </a:xfrm>
          <a:prstGeom prst="rect">
            <a:avLst/>
          </a:prstGeom>
          <a:noFill/>
          <a:ln w="6350">
            <a:solidFill>
              <a:srgbClr val="E8A57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51660" y="322874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手冲与批量滴滤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2988" y="3200400"/>
            <a:ext cx="960120" cy="196596"/>
          </a:xfrm>
          <a:prstGeom prst="rect">
            <a:avLst/>
          </a:prstGeom>
          <a:noFill/>
          <a:ln w="6350">
            <a:solidFill>
              <a:srgbClr val="E8A57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6996" y="3228746"/>
            <a:ext cx="960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无咖啡因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1688" y="3200400"/>
            <a:ext cx="1627632" cy="196596"/>
          </a:xfrm>
          <a:prstGeom prst="rect">
            <a:avLst/>
          </a:prstGeom>
          <a:noFill/>
          <a:ln w="6350">
            <a:solidFill>
              <a:srgbClr val="E8A57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3228746"/>
            <a:ext cx="1627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中式原叶茶壶泡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1695" y="3451860"/>
            <a:ext cx="1572768" cy="196596"/>
          </a:xfrm>
          <a:prstGeom prst="rect">
            <a:avLst/>
          </a:prstGeom>
          <a:noFill/>
          <a:ln w="6350">
            <a:solidFill>
              <a:srgbClr val="E8A57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" y="3480206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软饮与无醇特调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00300" y="3451860"/>
            <a:ext cx="1572768" cy="196596"/>
          </a:xfrm>
          <a:prstGeom prst="rect">
            <a:avLst/>
          </a:prstGeom>
          <a:noFill/>
          <a:ln w="6350">
            <a:solidFill>
              <a:srgbClr val="E8A57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4308" y="3480206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免明火佐餐轻食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" y="388239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商务接待套餐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2282" y="3904335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按接待级别配置饮品与茶点，走接待单不走零售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" y="417591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会议茶歇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2282" y="419785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分三档，按到场人数与活动性质选配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" y="44685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活动定制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2282" y="449046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定制杯贴、主题特调、活动专属饮品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695" y="476021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基础零售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2282" y="478215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挂耳、咖啡豆、伴手礼——可作为接待赠礼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" y="5051907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暂不做酒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2282" y="5073853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先把无醇特调做透，规避酒类资质与合规风险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8711" y="2623108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6759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84 层必须有接待岗</a:t>
            </a: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，不排固定岗位表，改为四个岗位族加五套阵型，由当班领班</a:t>
            </a:r>
            <a:r>
              <a:rPr sz="8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每个时段叫一次阵</a:t>
            </a: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8711" y="3337407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吧台 · 出品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9298" y="3358438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按配方卡出品、控制出杯节奏与损耗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8711" y="3629101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接待 · 引导与关系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59298" y="365013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迎宾、确认预约、引导入座、识别 VIP、维护客户档案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8711" y="3920794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巡场 · 桌面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59298" y="3941825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送杯到座、30 分钟一轮续水、桌面归零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711" y="4214317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活动支援 · 浮动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59298" y="4235348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活动日增援签到、茶歇补台与引导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2983" y="2623108"/>
            <a:ext cx="35460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6759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所有到访——无论内部还是外部、收费还是不收费——</a:t>
            </a:r>
            <a:r>
              <a:rPr sz="8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都必须落到同一张接待单上。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72983" y="306872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84F 接待单 · 字段结构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3336645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来源 楼内 / 集团 / 外部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7679" y="3336645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级别 常规 / 重点 / VIP / 集团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3704234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时段与人数 到访时间 · 预计人数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77679" y="370423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区域 会客区 / 壁炉区 / 景观区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4086453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饮品与忌口 偏好 · 无咖啡因需求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77679" y="408645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是否联动 是否含路演厅活动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4454042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结算方式 内部划转 / 月结 / 现结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77679" y="445404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责任人 受理人 · 现场对接人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72983" y="4966868"/>
            <a:ext cx="35460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7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内部接待与对外收费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在同一张单上区分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，不另设流程——这样才能同时满足集团内部结算口径与对外报价口径。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695" y="574883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服 务 时 效 标 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93976" y="573237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95728" y="581360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93976" y="5995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客人抵达后</a:t>
            </a:r>
          </a:p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被问候的时限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3203" y="573237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56939" y="581360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分钟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83203" y="5995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落座后</a:t>
            </a:r>
          </a:p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被问候的时限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9687" y="573237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43423" y="581360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分钟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69687" y="5995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吧台空位</a:t>
            </a:r>
          </a:p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清理时限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573237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31736" y="581360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分钟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5995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桌位</a:t>
            </a:r>
          </a:p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清理时限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59114" y="573237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60866" y="581360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分钟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59114" y="5995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巡台续水</a:t>
            </a:r>
          </a:p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固定间隔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45598" y="573237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47350" y="581360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小时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45598" y="5995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邮件与预约</a:t>
            </a:r>
          </a:p>
          <a:p>
            <a:pPr algn="l">
              <a:lnSpc>
                <a:spcPct val="15024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确认时限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核心空间二 · 路演厅运营规划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不要当一间多功能厅来卖，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要当六条产品线来卖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把同一个约 375 ㎡ 的空间拆成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六个有明确座型、时长、设备与人手的标准产品。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604" y="2104339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云端路演场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604" y="239496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P I T C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8604" y="272750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企业路演、投融资对接、行业沙龙与小型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论坛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8604" y="3185617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剧院式 100—120 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8604" y="365470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半日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8604" y="4112818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大屏 ＋ 无线麦 ＋ 基础灯光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604" y="450601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执行 1 ＋ 设备 1 ＋ 咖啡厅支援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604" y="494949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T-14 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9096" y="2104339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品牌发布场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9096" y="239496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L A U N C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9096" y="272750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新品与品牌发布、媒体见面会、颁奖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9096" y="3185617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剧院式 100—120 座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前区留发布台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9096" y="365470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半日 ＋ 前一日布场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9096" y="4112818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最高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：导播、追光、备份推流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9096" y="450601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执行 1—2 ＋ 设备 1—2 ＋ 引导若干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9096" y="494949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T-30 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9588" y="2104339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训练营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9588" y="239496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T R A I N I N 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9588" y="272750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企业内训、认证考试、系列课程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9588" y="3185617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课桌式 50—65 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9588" y="365470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连续 2—5 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9588" y="4112818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最低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：投屏与音响即可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9588" y="450601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执行 1（可兼）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9588" y="494949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T-14 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90080" y="2104339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闭门圆桌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0080" y="239496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R O U N D TA B L 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0080" y="272750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董事会与投委会、闭门研讨、专家咨询会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0080" y="3185617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回字型 24—40 人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或 U 型 20—34 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0080" y="365470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3—4 小时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0080" y="4112818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中等：桌面麦、隐私音量控制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0080" y="450601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执行 1 ＋ 专属服务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0080" y="494949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T-7 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1487" y="2104339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云端直播棚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1487" y="239496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S T U D I 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1487" y="272750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线上发布、直播路演、内容录制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1487" y="3185617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局部布景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无观众或小规模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1487" y="365470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按档次租用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半日起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1487" y="4112818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高：机位、灯光、网络冗余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1487" y="450601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设备 1—2 ＋ 执行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1487" y="494949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T-14 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2104339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高空酒会与展陈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93808" y="239496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R E C E P T I O 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272750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客户答谢酒会、私享会、小型展陈与快闪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93808" y="3185617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站立式 120—150 人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（须经疏散校核）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93808" y="365470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2—3 小时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多为傍晚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93808" y="4112818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低：背景音乐与氛围灯光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93808" y="4506010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执行 1 ＋ 出品与巡场增援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93808" y="4949494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T-21 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1695" y="258775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典 型 场 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695" y="305683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座 型 与 容 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1695" y="354055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典 型 时 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1695" y="402244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A V   与 技 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1695" y="435162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现 场 人 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1695" y="4835347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最 短 预 定 周 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1695" y="55092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先 做 哪 两 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81604" y="55062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训练营 —— 最优质的「填谷」客户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81604" y="5736793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918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连续 2—5 天的培训与认证类客户，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一单锁一周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，且 AV 强度最低、执行压力最小。它填的正是周历上最容易空的白天时段。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5292" y="55062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云端路演场 —— 最契合这个位置的叙事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5292" y="5736793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918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在 CBD 核心的高区做路演，本身就是主办方要的背书。它带来的是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可持续复用的机构客户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与后续的品牌活动线索。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62695" y="55062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其余四条： 随试运营逐步放开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62695" y="5736793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918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品牌发布与酒会展陈对搭建、消防与货梯要求最高，须在《活动执行技术白皮书》完成后再对外承接。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核心空间二 · 路演厅运营规划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路演厅经营状态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路演厅按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日常 / 预约 / 活动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三种状态运营，目标是让每一个工作日的每一个时段都归属于其中一种。管理层每周只需要看一张图：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周历上还剩多少个灰格子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——那才是真正的运营缺口。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219715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日常模式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2298801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S T A N D B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98801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无预约时的默认状态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" y="2514447"/>
            <a:ext cx="47731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厅内维持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课桌式基础排布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，对楼内企业开放为内部会议与协作区，同时承担招商带看动线与样板参观点位。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空着也要有用途，不能锁门。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2947873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谁能用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" y="3130753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楼内租户内部会议</a:t>
            </a:r>
          </a:p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集团内部小型会议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2751" y="2947873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怎么开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2751" y="3130753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线上申请 · 半天为单位</a:t>
            </a:r>
          </a:p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当日可批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3807" y="2947873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人力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3807" y="3130753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巡场兼管</a:t>
            </a:r>
          </a:p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不专设人力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" y="355503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预约模式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3656685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B O O K E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656685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已锁档、尚未执行日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" y="3872331"/>
            <a:ext cx="47731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档期一经确认即进入预约模式：完成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需求确认单、座型方案、AV 清单、餐饮方案与报价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，并冻结前后各半天用于布场与撤场。培训与认证类客户按周锁档，是最优质的填谷客户。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" y="430575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锁档规则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" y="4488637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连续多日优先</a:t>
            </a:r>
          </a:p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前后半天同步冻结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2751" y="430575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交付物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2751" y="4488637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活动执行单（BEO）</a:t>
            </a:r>
          </a:p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全岗位分发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3807" y="430575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人力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3807" y="4488637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项目对接人 1</a:t>
            </a:r>
          </a:p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提前介入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" y="491474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活动模式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501639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L I V 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01639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执行日当天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" y="5232044"/>
            <a:ext cx="47731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全岗位按执行单站位：签到与迎宾在咖啡厅侧完成，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茶歇绝不进厅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，避免翻场污染；设备提前一小时调试到位，六个固定引导点位加一个机动。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695" y="566547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硬指标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695" y="5848350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照度 350–500 lx</a:t>
            </a:r>
          </a:p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会前 1 小时到岗调试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2751" y="566547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应急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2751" y="5848350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八张处置卡上墙</a:t>
            </a:r>
          </a:p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服从消防中心指令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3807" y="566547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人力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43807" y="5848350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执行 ＋ 咖啡厅支援</a:t>
            </a:r>
          </a:p>
          <a:p>
            <a:pPr algn="l">
              <a:lnSpc>
                <a:spcPct val="13214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按规模弹性增援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219715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三色周历： 管理层每周看的第一张图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257653"/>
            <a:ext cx="14520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示意排布，非排期承诺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3796" y="2459736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周一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3896" y="2459736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周二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6798" y="2459736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周三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29700" y="2459736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周四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41687" y="2459736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周五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54588" y="2459736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周六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2794406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09—11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315010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11—13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3505809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13—15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3861511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15—17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21721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17—19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57291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19—21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90080" y="2651760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D7185"/>
                </a:solidFill>
                <a:latin typeface="Arial"/>
                <a:ea typeface="PingFang SC"/>
                <a:cs typeface="Arial"/>
              </a:rPr>
              <a:t>日常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92009" y="2651760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预约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03082" y="2651760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D7185"/>
                </a:solidFill>
                <a:latin typeface="Arial"/>
                <a:ea typeface="PingFang SC"/>
                <a:cs typeface="Arial"/>
              </a:rPr>
              <a:t>日常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15984" y="2651760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E959A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2651760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D7185"/>
                </a:solidFill>
                <a:latin typeface="Arial"/>
                <a:ea typeface="PingFang SC"/>
                <a:cs typeface="Arial"/>
              </a:rPr>
              <a:t>日常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90080" y="3006547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D7185"/>
                </a:solidFill>
                <a:latin typeface="Arial"/>
                <a:ea typeface="PingFang SC"/>
                <a:cs typeface="Arial"/>
              </a:rPr>
              <a:t>日常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92009" y="3006547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预约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15984" y="3006547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E959A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3006547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D7185"/>
                </a:solidFill>
                <a:latin typeface="Arial"/>
                <a:ea typeface="PingFang SC"/>
                <a:cs typeface="Arial"/>
              </a:rPr>
              <a:t>日常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90080" y="3362248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E959A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92009" y="3362248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预约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03082" y="3362248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D7185"/>
                </a:solidFill>
                <a:latin typeface="Arial"/>
                <a:ea typeface="PingFang SC"/>
                <a:cs typeface="Arial"/>
              </a:rPr>
              <a:t>日常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15984" y="3362248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D7185"/>
                </a:solidFill>
                <a:latin typeface="Arial"/>
                <a:ea typeface="PingFang SC"/>
                <a:cs typeface="Arial"/>
              </a:rPr>
              <a:t>日常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9800" y="3362248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E959A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42701" y="3362248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预约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90080" y="3717950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E959A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92009" y="3717950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预约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03082" y="3717950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D7185"/>
                </a:solidFill>
                <a:latin typeface="Arial"/>
                <a:ea typeface="PingFang SC"/>
                <a:cs typeface="Arial"/>
              </a:rPr>
              <a:t>日常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800" y="3717950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E959A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42701" y="3717950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预约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03082" y="4073652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E959A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15984" y="4073652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D7185"/>
                </a:solidFill>
                <a:latin typeface="Arial"/>
                <a:ea typeface="PingFang SC"/>
                <a:cs typeface="Arial"/>
              </a:rPr>
              <a:t>日常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4073652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E959A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03082" y="4429353"/>
            <a:ext cx="5852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E959A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47180" y="4899355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日常模式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13778" y="4899355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预约模式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80375" y="4899355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活动模式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46973" y="4899355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灰格 = 尚无身份的时段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82512" y="55092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填 谷 的 九 条 手 段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82512" y="5727649"/>
            <a:ext cx="50365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内部会议开放 · 共享分时租赁 ·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培训与认证锁档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（一单锁一周、AV 强度最低）· 直播录播棚 · 招商带看动线 · 常设展陈轮展 · 白天协作区 · 品牌快闪置换 · 临期释放定价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核心空间二 · 路演厅运营规划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一场活动被拆成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八个节点</a:t>
            </a: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，每个节点都有人、有交付物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419301"/>
            <a:ext cx="106518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活动服务不能靠临场发挥。核心文件是一份全岗位分发的</a:t>
            </a:r>
            <a:r>
              <a:rPr sz="11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活动执行单（BEO）</a:t>
            </a:r>
            <a:r>
              <a:rPr sz="11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——它一发出，厨房、吧台、接待、设备、保洁看到的是同一个版本。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2869844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需求确认</a:t>
            </a:r>
          </a:p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与锁档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" y="3386785"/>
            <a:ext cx="12252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明确活动性质、人数、时段与预算区间；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现场勘查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；出座型方案与初步报价；档期锁定并冻结前后半天。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" y="5101437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交 付 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" y="5297881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需求确认单 · 座型方案 · 报价单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695" y="5797296"/>
            <a:ext cx="1170432" cy="16916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" y="5823813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咖啡厅前台 受理建档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518" y="2869844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方案定稿</a:t>
            </a:r>
          </a:p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与合同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518" y="3386785"/>
            <a:ext cx="12252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确认 AV 与直播需求、茶歇档位、物料与指引；签订场地使用协议；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夜间/周末空调加时同步报批。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518" y="5101437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交 付 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518" y="5297881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服务方案 · 场地协议 · 加时报批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3518" y="5797296"/>
            <a:ext cx="749808" cy="169164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3810" y="5823813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路演厅对接人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5342" y="2869844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执行单</a:t>
            </a:r>
          </a:p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下发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5342" y="3386785"/>
            <a:ext cx="12252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生成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活动执行单（BEO）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并全岗位分发；确定茶歇出品清单与备料量；报备物业（电梯、消防、安保、装卸货）。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5342" y="5101437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交 付 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5342" y="5297881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BEO 执行单 · 物业报备回执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5342" y="5797296"/>
            <a:ext cx="749808" cy="169164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5634" y="5823813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路演厅对接人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7166" y="2869844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物料到位</a:t>
            </a:r>
          </a:p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与技术彩排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7166" y="3386785"/>
            <a:ext cx="12252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主视觉、指引牌、席卡到位；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技术彩排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：大屏、音响、无线麦、导播与推流全通道测试并留备份方案。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7166" y="5101437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交 付 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7166" y="5297881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彩排记录 · 设备备份方案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7166" y="5797296"/>
            <a:ext cx="539496" cy="169164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7457" y="5823813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设备保障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8989" y="2869844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布场</a:t>
            </a:r>
          </a:p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与终检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8989" y="3386785"/>
            <a:ext cx="12252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按座型图布场；签到台设于咖啡厅侧；提前推送到访名单给大堂；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八张突发处置卡上墙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；清洁与灯光终检。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8989" y="5101437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交 付 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8989" y="5297881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布场验收单 · 到访名单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8989" y="5797296"/>
            <a:ext cx="1065276" cy="16916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9281" y="5823813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咖啡厅 ＋ 路演厅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0813" y="2869844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活动日</a:t>
            </a:r>
          </a:p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执行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0813" y="3386785"/>
            <a:ext cx="12252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会前 1 小时全岗位到位调试；迎宾—签到—引导—入场；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茶歇在咖啡厅侧出品，不进厅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；六个固定引导点位加一个机动。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0813" y="5101437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交 付 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0813" y="5297881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现场签到表 · 时间轴打点记录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20813" y="5797296"/>
            <a:ext cx="434340" cy="16916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1105" y="5823813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全岗位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2636" y="2869844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撤场</a:t>
            </a:r>
          </a:p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与当日复盘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52636" y="3386785"/>
            <a:ext cx="12252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当晚恢复默认排布；清点物料与损耗；当日填写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活动复盘表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：到场情况、超时情况、投诉与设备异常。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2636" y="5101437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交 付 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2636" y="5297881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活动复盘表 · 损耗与费用结算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52636" y="5797296"/>
            <a:ext cx="749808" cy="169164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02928" y="5823813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路演厅对接人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84460" y="2869844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客户回访</a:t>
            </a:r>
          </a:p>
          <a:p>
            <a:pPr algn="l">
              <a:lnSpc>
                <a:spcPct val="14533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与再转化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84460" y="3386785"/>
            <a:ext cx="122529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回访主办方与关键嘉宾，回收满意度；将参会企业录入客户档案；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提出下一次档期建议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并争取年度框架。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84460" y="5101437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交 付 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84460" y="5297881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满意度记录 · 客户档案更新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84460" y="5797296"/>
            <a:ext cx="960120" cy="16916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34752" y="5823813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咖啡厅前台 归档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1695" y="6235293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为 什 么 是   B E 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00784" y="6235141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酒店宴会通行做法：一张单同时约束场地、餐饮、设备、人力与结算。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咖啡厅与路演厅联动运营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客户买的不是一间厅，是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从需求到复盘的一整段确定性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在九个环节里，咖啡厅与路演厅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交替登场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：路演厅承担正式议程，咖啡厅承担接待、餐饮与交流。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256123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" y="2695346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客户需求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" y="3098749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「「我们想在 84 层办一场活动」——从一通电话或一次到访开始。」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" y="3860444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受理并建档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：性质、人数、时段、预算区间；同步查档期。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4630369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E8631B"/>
                </a:solidFill>
                <a:latin typeface="Arial"/>
                <a:ea typeface="PingFang SC"/>
                <a:cs typeface="Arial"/>
              </a:rPr>
              <a:t>咖啡厅前台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5203" y="256123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5203" y="2695346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活动预约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5203" y="3098749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拿到一个明确的档期答复，而不是「我们再看看」。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5203" y="3860444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锁档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并冻结前后各半天用于布场与撤场。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5203" y="4630369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E8631B"/>
                </a:solidFill>
                <a:latin typeface="Arial"/>
                <a:ea typeface="PingFang SC"/>
                <a:cs typeface="Arial"/>
              </a:rPr>
              <a:t>咖啡厅前台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8711" y="256123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8711" y="2695346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方案确认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8711" y="3098749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一次性看到座型、设备、茶歇与报价，不用来回问三家。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8711" y="3860444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出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服务方案与报价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；签场地协议；空调加时同步报批。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8711" y="4630369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路演厅对接人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2218" y="256123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2218" y="2695346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空间布置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2218" y="3098749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到场时，厅已布好、指引已立、签到台已就位。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2218" y="3860444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 BEO 布场与终检；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签到台设于咖啡厅侧。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2218" y="4630369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两区共同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5726" y="256123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95726" y="2695346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嘉宾接待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95726" y="3098749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从电梯口就有人接，不必自己找路。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95726" y="3860444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迎宾、签到、引导；名单已提前推送大堂。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95726" y="4630369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E8631B"/>
                </a:solidFill>
                <a:latin typeface="Arial"/>
                <a:ea typeface="PingFang SC"/>
                <a:cs typeface="Arial"/>
              </a:rPr>
              <a:t>咖啡厅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9234" y="256123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9234" y="2695346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路演活动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9234" y="3098749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设备不出问题，流程不掉链子。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9234" y="3860444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会前 1 小时调试；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六个引导点位加一个机动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；全程协调。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9234" y="4630369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路演厅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2742" y="256123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2742" y="2695346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咖啡茶歇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2742" y="3098749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茶歇不用出楼层，也不必将就一盒外送。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2742" y="3860444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咖啡厅侧出品与补台；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茶歇不进厅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，避免翻场污染。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2742" y="4630369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E8631B"/>
                </a:solidFill>
                <a:latin typeface="Arial"/>
                <a:ea typeface="PingFang SC"/>
                <a:cs typeface="Arial"/>
              </a:rPr>
              <a:t>咖啡厅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6250" y="256123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6250" y="2695346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商务交流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6250" y="3098749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活动结束后还能坐下来，把刚才没谈完的谈完。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46250" y="3860444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场域切换至洽谈模式；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会后是成交概率最高的一小时。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6250" y="4630369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E8631B"/>
                </a:solidFill>
                <a:latin typeface="Arial"/>
                <a:ea typeface="PingFang SC"/>
                <a:cs typeface="Arial"/>
              </a:rPr>
              <a:t>咖啡厅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29758" y="256123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29758" y="2695346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复盘与客户维护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29758" y="3098749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下一次办活动时，第一个想到的还是这里。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29758" y="3860444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当日复盘；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T+7 内回访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；参会企业录入客户档案。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29758" y="4630369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两区共同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695" y="5101437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每 一 步 激 活 了 哪 几 条 价 值 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3427" y="559247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场地使用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64538" y="559247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餐饮与茶歇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07031" y="559247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活动执行服务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32734" y="559247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增值服务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2931" y="559247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客户关系（不计入收入，但决定复用）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26633" y="5592470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该步未激活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00784" y="6086703"/>
            <a:ext cx="8961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如果只把路演厅当场地租出去，九步里我们只出现在第六步；</a:t>
            </a: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把两个空间合起来运营，我们出现在全部九步</a:t>
            </a: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——客户的确定性、我们的价值，都来自这个差别。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咖啡厅与路演厅联动运营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路演厅带来人，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咖啡厅赚到钱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206562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同 一 场 活 动   ·   两 种 做 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3976" y="22192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做法一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63" y="22192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做法二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1796" y="245699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只把场地租出去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9984" y="245699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84 层联动服务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27651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客 户 拿 到 什 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1796" y="279516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一间空厅、一套基础设备，以及一句「其余请自理」。茶歇、执行、摄录要自己另外找三家供应商。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4" y="2795168"/>
            <a:ext cx="46890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从需求确认到活动复盘的完整服务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" y="317113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我 们 交 付 什 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1796" y="320116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开门、开设备、收场租。九个环节里我们只出现在第六步。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3201162"/>
            <a:ext cx="46890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接待、布场、签到、设备保障、茶歇、会后洽谈与回访——</a:t>
            </a:r>
            <a:r>
              <a:rPr sz="7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九个环节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" y="3564331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价 值 构 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1796" y="3594354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只有场地一条线，且是四条线中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最容易被比价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的一条。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3594354"/>
            <a:ext cx="46890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场地 ＋ 餐饮与茶歇 ＋ 活动执行 ＋ 增值服务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四条线同时成立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，且后三条与场地价格脱钩。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" y="3958437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下 一 次 还 来 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1796" y="39884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客户记住的是价格。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谁便宜去谁那。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3988460"/>
            <a:ext cx="46890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客户记住的是「那次很省心」。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这是复用率与年度框架协议的唯一来源。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" y="46195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但 联 动 也 有 风 险   — —   三 条 政 策 必 须 写 进 服 务 条 款 ， 而 不 是 靠 现 场 协 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" y="484723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政策一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8623" y="4800904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分区政策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" y="5096713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活动日，咖啡厅的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会客区（Z2）转为嘉宾休息与洽谈区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景观区（Z4）保留给非活动客户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，不被活动人流占满。壁炉区（Z3）按活动方是否预约独占决定。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" y="5778093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写入《场地使用协议》附件：活动日空间使用约定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711" y="484723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政策二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5639" y="4800904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时段政策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8711" y="5096713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签到与茶歇时段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前后各 30 分钟，咖啡厅不再接新的商务接待预约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；已在场客户不清场，但停止新增。这一条决定了活动日会不会出现「两拨客人抢一张桌」。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8711" y="5778093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写入接待单受理规则：档期冲突自动拦截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2983" y="484723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政策三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1" y="4800904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动线政策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72983" y="5096713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活动人流走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西侧动线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直接进入路演厅，日常到访客户走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北侧动线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进入咖啡厅；两条动线在西北角相接，但不交叉穿越会客区。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72983" y="5778093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写入活动执行单：引导点位与指引牌落位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实际运营体系设计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六个维度，最终落成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六份开业前必须交付的文件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「运营体系」不是一句口号。它可以被拆成六条线，而每一条线的验收标准都很朴素：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到开业那天，这份文件在不在、有没有人签字、新人能不能照着做。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197418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维 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7418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这 条 线 要 回 答 的 问 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97418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本 方 案 已 经 定 下 来 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197418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开 业 前 交 付 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23352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27944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人员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38109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8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P E O P L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26081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谁来干？活动来了从哪里调人？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326081"/>
            <a:ext cx="4370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四个岗位族：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吧台（出品）· 接待（引导与关系）· 巡场（送杯与桌面）· 活动支援（浮动）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。不排固定岗位表，改为按时段「叫阵型」；编制用峰值产能与座位覆盖比反推。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2322576"/>
            <a:ext cx="1452067" cy="182880"/>
          </a:xfrm>
          <a:prstGeom prst="rect">
            <a:avLst/>
          </a:prstGeom>
          <a:noFill/>
          <a:ln w="6350">
            <a:solidFill>
              <a:srgbClr val="DCD6C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1824" y="2344521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岗位说明书与排班规则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586837"/>
            <a:ext cx="145206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责任：运营管理部 · </a:t>
            </a: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开业前 90 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" y="295518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89941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00106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8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S E R V I C 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9460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客人从进电梯到离开，被怎么对待？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946044"/>
            <a:ext cx="4370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全动线拆成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12 个触点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，每个触点定死「谁做、几分钟内做完、说哪句话」；接待分四级（常规 / 重点 / VIP / 集团与政务），差异体现在迎宾、通道、饮品规格与对接人。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2942539"/>
            <a:ext cx="1452067" cy="182880"/>
          </a:xfrm>
          <a:prstGeom prst="rect">
            <a:avLst/>
          </a:prstGeom>
          <a:noFill/>
          <a:ln w="6350">
            <a:solidFill>
              <a:srgbClr val="DCD6C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1824" y="296448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服务标准手册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206800"/>
            <a:ext cx="145206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责任：运营管理部 · </a:t>
            </a: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开业前 60 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" y="357515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519373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产品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3621024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8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P R O D U C 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3566007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我们到底卖什么？怎么报价？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566007"/>
            <a:ext cx="4370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常驻饮品控制在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18–24 个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，一页 A4 中英双语；商务接待套餐、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三档会议茶歇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、活动定制与伴手礼分开列示；场地与服务分档报价，不打包成一个价。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3562502"/>
            <a:ext cx="1452067" cy="182880"/>
          </a:xfrm>
          <a:prstGeom prst="rect">
            <a:avLst/>
          </a:prstGeom>
          <a:noFill/>
          <a:ln w="6350">
            <a:solidFill>
              <a:srgbClr val="DCD6C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1824" y="358444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产品与价格手册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826764"/>
            <a:ext cx="145206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责任：运营管理部 · </a:t>
            </a: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开业前 60 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" y="419511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13933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客户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424098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8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C L I E N 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18597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客人从哪里来？怎么让他再来？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4185970"/>
            <a:ext cx="4370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三张网：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楼内租户 · 平安集团条线 · 福田金融与产业生态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。所有到访与活动客户当日入档；年度框架协议优先于单次成交，档期优先权作为谈判筹码。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66960" y="4182465"/>
            <a:ext cx="1452067" cy="182880"/>
          </a:xfrm>
          <a:prstGeom prst="rect">
            <a:avLst/>
          </a:prstGeom>
          <a:noFill/>
          <a:ln w="6350">
            <a:solidFill>
              <a:srgbClr val="DCD6C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21824" y="4204411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客户档案与拓展计划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4446727"/>
            <a:ext cx="145206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责任：运营管理部 · </a:t>
            </a: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开业前 120 天启动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1695" y="481507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4759299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3080" y="486095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8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E V E N 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8960" y="480593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活动怎么接？怎么保证每场一个水准？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4805934"/>
            <a:ext cx="4370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路演厅按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日常 / 预约 / 活动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三态管理；每场活动走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T-30 至 T+7 八个节点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，核心文件是全岗位分发的活动执行单（BEO）；月度档期会锁定下月排布。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66960" y="4802428"/>
            <a:ext cx="1452067" cy="182880"/>
          </a:xfrm>
          <a:prstGeom prst="rect">
            <a:avLst/>
          </a:prstGeom>
          <a:noFill/>
          <a:ln w="6350">
            <a:solidFill>
              <a:srgbClr val="DCD6C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21824" y="482437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活动执行手册（含 BEO 模板）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5066690"/>
            <a:ext cx="145206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责任：运营管理部 · </a:t>
            </a: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开业前 60 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1695" y="543504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537926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管理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83080" y="5480913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8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M A N A G E M E N 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5425897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怎么知道做得好不好？出了问题谁兜？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5425897"/>
            <a:ext cx="4370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管理动作分三档：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每日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班前会与当日数据入表；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每周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看三色周历与客户跟进表；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每月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看使用率、活动场次、客户复用率、满意度与投诉闭环。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66960" y="5422392"/>
            <a:ext cx="1452067" cy="182880"/>
          </a:xfrm>
          <a:prstGeom prst="rect">
            <a:avLst/>
          </a:prstGeom>
          <a:noFill/>
          <a:ln w="6350">
            <a:solidFill>
              <a:srgbClr val="DCD6C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21824" y="5444337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运营管理办法与指标表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66960" y="5686653"/>
            <a:ext cx="145206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责任：运营管理部 · </a:t>
            </a: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开业前 30 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实际运营体系设计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日常运营 SOP：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三段固定动作 ＋ 两条触发流程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每天有三段动作是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无论有没有客人都必须完成的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；另外两条流程由事件触发——客户到访、或路演厅有活动。SOP 不写得很细，但每一条都写清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做什么、几分钟内做完、谁负责。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2010765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固 定 时 段   ·   每 日 必 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" y="214289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07:30 — 08:00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" y="246232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开店前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" y="2764993"/>
            <a:ext cx="23957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设备预热与校准：咖啡机、磨豆机、制冰机、净水；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按配方卡校准并试杯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物料点检与效期确认，缺料当日补单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场地复位：桌椅归位、灯光音乐切至晨间、遮光分区确认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查当日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接待单与活动档期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，确认到访名单已推送大堂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班前会 10 分钟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：今日客人是谁、几点到、谁负责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4173169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 当班领班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4289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08:00 — 19:00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6232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营业中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764993"/>
            <a:ext cx="23957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五个时段模式卡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切换：开放区域、桌型、灯光音乐、出品重心、在岗站位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迎宾岗常驻前厅，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客人抵达 30 秒内被问候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巡场每 30 分钟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走一轮：续水、收杯、桌面归零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责任： 当班领班 ＋ 吧台 ＋ 接待 ＋ 巡场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764993"/>
            <a:ext cx="23957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吧台空位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3 分钟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内清理，桌位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5 分钟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内清理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路演厅日常模式档期在线可查，当日申请当日批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每笔接待单当场入系统，不留纸质待补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14289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19:00 — 19:30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46232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闭店后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764993"/>
            <a:ext cx="23957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设备清洗与日保养，反冲洗与除渣按日志签字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物料盘点与损耗登记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，次日备料量按当日消耗与明日档期推算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当日数据入表：接待批次、活动场次、客户反馈与投诉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次日档期确认，向相关岗位预告</a:t>
            </a:r>
          </a:p>
          <a:p>
            <a:pPr algn="l">
              <a:lnSpc>
                <a:spcPct val="170026"/>
              </a:lnSpc>
              <a:spcBef>
                <a:spcPts val="4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闭店五项检查：电、水、气、门禁、垃圾清运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898849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 当班领班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" y="4598517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事 件 触 发   ·   按 需 启 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1695" y="4796028"/>
            <a:ext cx="621792" cy="182880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" y="481980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触发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1503" y="477621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客户到访接待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" y="5096713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到访前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" y="5270449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确认人数、时段、饮品偏好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与忌口；名单推送大堂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" y="5878677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最迟 T-1 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7535" y="5096713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抵达迎宾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7535" y="5270449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前厅问候、确认预约、寄存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与指引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7535" y="5878677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抵达 30 秒内问候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3375" y="5096713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引导入座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3375" y="5270449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按会谈性质选区：会客区 /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壁炉区 / 景观区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3375" y="5878677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落座 1 分钟内问候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9215" y="5096713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会谈中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79215" y="5270449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桌边送杯，30 分钟一轮续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水，不打断谈话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79215" y="5878677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主动询问无咖啡因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5055" y="5096713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送客与归档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85055" y="5270449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送至电梯厅；客户偏好写入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档案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5055" y="5878677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当日入系统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796028"/>
            <a:ext cx="621792" cy="182880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481980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触发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77621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路演厅活动执行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5096713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前一日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270449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 BEO 布场、终检；八张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突发处置卡上墙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5878677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T-1 日闭环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8352" y="5096713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会前一小时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8352" y="5270449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全岗到位；大屏、音响、麦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克风、推流全通道调试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88352" y="5878677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留备份方案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4192" y="5096713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签到迎宾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94192" y="5270449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签到台设于咖啡厅侧，六个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引导点位加一个机动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5878677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迟到者后门后排入场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00032" y="5096713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会中与茶歇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2" y="5270449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茶歇在咖啡厅侧出品与补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台，不进厅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00032" y="5878677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照度 350–500 lx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05872" y="5096713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撤场与复盘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05872" y="5270449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当晚复位；当日填写活动复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盘表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05872" y="5878677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T+7 日内回访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实际运营体系设计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我方总控，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专业的事交给专业的人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不建议整体委外。采用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 ＋ 2 ＋ N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结构：我方持有标准、客户、排期与数据；两家专业伙伴分别负责咖啡出品与活动执行；N 家供应商按项目调用。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181" y="205374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运 营 结 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" y="43662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与 「 整 体 委 外 」 相 比 ， 差 在 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181" y="462031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管理权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6580" y="462031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整体委外： 受托方说了算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984" y="462031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1+2+N： 标准与验收在我方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181" y="4900117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客户资产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6580" y="4900117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整体委外： 名单沉淀在对方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0984" y="4900117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1+2+N： 名单与数据合同约定归我方独占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" y="516529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品牌呈现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6580" y="5165293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整体委外： 呈现对方品牌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0984" y="5165293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1+2+N： 呈现 84 层自有场所品牌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" y="544509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更换成本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6580" y="5445099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整体委外： 更换即断档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0984" y="5445099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1+2+N： 单条线可替换，业务不停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2687" y="2028139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四 样 东 西 必 须 写 进 合 同 、 留 在 我 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2687" y="2291181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服务标准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2322423"/>
            <a:ext cx="39392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配方卡、服务时效标尺、接待分级标准由我方制定，伙伴执行并接受抽检。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2687" y="25572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客户名单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2588514"/>
            <a:ext cx="39392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所有到访与活动客户档案归我方独占，伙伴不得留存、不得复用。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2687" y="2825191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场地排期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2856433"/>
            <a:ext cx="39392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档期审批权在我方；伙伴无权直接对外承接或转租。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2687" y="3090367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经营数据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21609"/>
            <a:ext cx="39392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出品、接待、活动与满意度数据实时同步至我方，作为续约依据。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2687" y="365485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事 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654856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运营管理部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84664" y="3654856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出品伙伴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33888" y="3654856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执行伙伴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2687" y="3821125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档期审批与优先级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896258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决策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84664" y="3896258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知会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33888" y="3896258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知会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687" y="406069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报价与折让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135831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决策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84664" y="4135831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33888" y="4135831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提供成本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2687" y="4302099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出品标准与菜单变更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4377232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决策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84664" y="4377232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提案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33888" y="4377232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2687" y="4544415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活动现场处置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619548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知会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84664" y="4619548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配合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33888" y="4619548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执行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2687" y="4785817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客户投诉闭环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860950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决策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84664" y="4860950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整改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33888" y="4860950"/>
            <a:ext cx="8851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整改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7181" y="578815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出 了 问 题 怎 么 升 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31796" y="578723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LEVEL 1 · 现场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31796" y="592409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当班领班就地处置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31796" y="61511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97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出品失误、桌位冲突、设备小故障——按处置卡执行，当场解决并记录，不上报。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7800" y="578723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LEVEL 2 · 当日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592409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运营负责人当日介入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7800" y="61511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97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活动超时、客户投诉、设备故障影响议程——当日给客户答复，当日写入复盘。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82888" y="578723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LEVEL 3 · 上报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82888" y="592409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上报管理层与物业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82888" y="61511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97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消防与安全事件、人员伤病、集团声誉舆情——第一时间上报，服从物业消防中心指令。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18320" y="-46939"/>
            <a:ext cx="200253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267629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60">
                <a:solidFill>
                  <a:srgbClr val="754525"/>
                </a:solidFill>
                <a:latin typeface="Arial"/>
                <a:ea typeface="PingFang SC"/>
                <a:cs typeface="Arial"/>
              </a:rPr>
              <a:t>S E C T I O N 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177" y="2903067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 spc="20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人员体系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695" y="377906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B88"/>
                </a:solidFill>
                <a:latin typeface="Arial"/>
                <a:ea typeface="PingFang SC"/>
                <a:cs typeface="Arial"/>
              </a:rPr>
              <a:t>谁来干、怎么排班、人工成本怎么兜住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7088" y="435025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0903" y="4317187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组织架构与岗位编制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4375251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7088" y="4638751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7088" y="476813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0903" y="4735067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岗位职责说明书 · 四个岗位族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4793132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7088" y="5056631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7088" y="5186019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0903" y="51529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排班规则、周班表与高峰调配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5211013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25–26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97088" y="5474512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7088" y="560390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0903" y="5570829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人工成本与财务测算的关联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5628894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7088" y="5892393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" y="6385102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5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员工职责及岗位分配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十个固定编制，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加一个弹性用工池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人力成本总额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1,229,850 元/年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（第一年）是测算表里的真实数据；下表的岗位、人数与单岗成本，是按这个总额反推的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建议编制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，尚未定岗定薪，逐项标注待确认。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" y="1891893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运 营 组 织 架 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7181" y="2121408"/>
            <a:ext cx="4206240" cy="566928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38756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E6E2"/>
                </a:solidFill>
                <a:latin typeface="Arial"/>
                <a:ea typeface="PingFang SC"/>
                <a:cs typeface="Arial"/>
              </a:rPr>
              <a:t>运营管理部（我方）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95397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4AE"/>
                </a:solidFill>
                <a:latin typeface="Arial"/>
                <a:ea typeface="PingFang SC"/>
                <a:cs typeface="Arial"/>
              </a:rPr>
              <a:t>持有标准、客户、排期与数据 —— 总控方，不可外包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1216" y="2688336"/>
            <a:ext cx="10160" cy="256032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" y="2944368"/>
            <a:ext cx="3383280" cy="1016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7181" y="3145536"/>
            <a:ext cx="2029968" cy="7863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7181" y="3145536"/>
            <a:ext cx="2029968" cy="25603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8621" y="3277057"/>
            <a:ext cx="1847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自有固定编制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621" y="3469081"/>
            <a:ext cx="1847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" y="3656685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吧台 · 接待 · 巡场 · 活动支援 · 店长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3145536"/>
            <a:ext cx="1298448" cy="786384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12848" y="3145536"/>
            <a:ext cx="1298448" cy="25603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04288" y="327705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弹性用工池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3469081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按峰值调用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3656685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兼职/实习/临时支援 · 高峰与活动日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145536"/>
            <a:ext cx="1298448" cy="786384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75887" y="3145536"/>
            <a:ext cx="1298448" cy="25603"/>
          </a:xfrm>
          <a:prstGeom prst="rect">
            <a:avLst/>
          </a:prstGeom>
          <a:solidFill>
            <a:srgbClr val="3E5A7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7" y="327705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专业伙伴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7" y="3469081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1＋2＋N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7" y="3656685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咖啡出品伙伴 · 活动执行伙伴 · 供应商池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81" y="4127449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与第 21 页的 1＋2＋N 结构一致：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我方只自建「总控 + 接待 + 关系」这一层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，咖啡出品与活动执行由专业伙伴承担。因此本页编制是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我方自有岗位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；伙伴团队的现场人数由伙伴按服务标准配置，不占我方编制。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7181" y="4901184"/>
            <a:ext cx="4206240" cy="1024128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7181" y="4901184"/>
            <a:ext cx="25603" cy="102412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" y="5084064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一 个 必 须 先 确 认 的 口 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925" y="5321808"/>
            <a:ext cx="37307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测算表中「人力成本（含奖金福利）」是否已包含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咖啡出品伙伴与活动执行伙伴的服务费/分成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？若不包含，该笔支出需单列，全年缺口将相应扩大。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4937760"/>
            <a:ext cx="566928" cy="160020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53812" y="4961686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待确认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1891893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建 议 岗 位 编 制   ·   按 人 力 成 本 总 额 反 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36224" y="1901952"/>
            <a:ext cx="484632" cy="160020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86516" y="1925878"/>
            <a:ext cx="484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待确认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2103120"/>
            <a:ext cx="6024067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2230221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岗位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2230221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岗位族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3296" y="223022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人数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2230221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月综合成本/人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2230221"/>
            <a:ext cx="13606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年度合计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249067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运营负责人 / 店长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2655417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全场统筹 · 对接管理层与物业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2490673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管理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83296" y="2490673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2490673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18,000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2490673"/>
            <a:ext cx="13606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216,000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4960" y="2871215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0" y="2929585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咖啡主管 · 吧台领班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0" y="3094329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咖啡厅 出品与品控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67728" y="2929585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吧台 · 出品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83296" y="2929585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292958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12,000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2929585"/>
            <a:ext cx="13606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144,000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60" y="3310127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0" y="3368497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4960" y="3533241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咖啡厅 · 茶歇台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67728" y="3368497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吧台 · 出品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83296" y="3368497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78240" y="3368497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8,500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3368497"/>
            <a:ext cx="13606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306,000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94960" y="3749039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0" y="3807409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接待专员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94960" y="397215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高端会客 · 迎宾 · 客户档案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67728" y="380740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接待 · 引导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83296" y="3807409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78240" y="380740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7,500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0" y="3807409"/>
            <a:ext cx="13606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270,000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94960" y="4187951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94960" y="4246321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活动执行 / 路演统筹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94960" y="4411065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路演厅 · 活动接待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67728" y="4246321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活动支援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83296" y="424632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78240" y="4246321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9,500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58400" y="4246321"/>
            <a:ext cx="13606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228,000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94960" y="4626864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94960" y="468523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弹性用工池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4960" y="4849977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兼职与高峰支援 · 按小时计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67728" y="4685233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浮动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83296" y="4685233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78240" y="4685233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5,488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0" y="4685233"/>
            <a:ext cx="13606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65,850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94960" y="5084064"/>
            <a:ext cx="6024067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94960" y="5224729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合计（与测算表一致）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83296" y="5224729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78240" y="522472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102,488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58400" y="5205831"/>
            <a:ext cx="13606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1,229,850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94960" y="5640933"/>
            <a:ext cx="60240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155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口径说明：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合计 1,229,850 元与测算表第一年人力成本完全一致，为真实数据；</a:t>
            </a: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表中人数与月综合成本为按总额反推的建议方案，未经定岗定薪确认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。测算表中人力成本逐年增长 </a:t>
            </a:r>
            <a:r>
              <a:rPr sz="6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4.31%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（第五年 </a:t>
            </a:r>
            <a:r>
              <a:rPr sz="6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1,458,524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元），本编制按不增员、仅调薪处理。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员工职责及岗位分配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不排固定岗位表，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排四个岗位族</a:t>
            </a: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与四类场景的对应关系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一个人一天可能同时属于两个岗位族。真正需要写死的不是「谁坐哪个位置」，而是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每个岗位族在咖啡厅、路演厅、高端会客与活动接待四类场景里，分别承担什么、交付什么。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181" y="1874519"/>
            <a:ext cx="10651845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7181" y="1938528"/>
            <a:ext cx="2551176" cy="2926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" y="211957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吧台 · 出品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81" y="2376525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E8631B"/>
                </a:solidFill>
                <a:latin typeface="Arial"/>
                <a:ea typeface="PingFang SC"/>
                <a:cs typeface="Arial"/>
              </a:rPr>
              <a:t>B A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181" y="2582113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咖啡主管 1 ＋ 咖啡师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181" y="2888589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核 心 职 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" y="3075889"/>
            <a:ext cx="255117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按配方卡出品，控制出杯节奏与损耗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开店设备预热校准并试杯；闭店清洗与日保养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物料点检、效期确认与次日备料量推算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茶歇档位出品与补台（在咖啡厅侧完成）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" y="4196181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在 四 类 场 景 中 的 分 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" y="4392625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6989" y="4392625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全时段主责：五个时段模式卡的出品重心切换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" y="4776673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路演厅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6989" y="4776673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不进厅；茶歇在咖啡厅侧出品，由巡场端送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" y="516072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高端会客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6989" y="5160721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按接待级别出杯型与规格，走接待单不走零售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81" y="5544769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活动接待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6989" y="5544769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活动日增配 1 人，提前一小时前置备料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64661" y="1938528"/>
            <a:ext cx="2551176" cy="29260"/>
          </a:xfrm>
          <a:prstGeom prst="rect">
            <a:avLst/>
          </a:prstGeom>
          <a:solidFill>
            <a:srgbClr val="943E1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64661" y="211957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接待 · 引导与关系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4661" y="2376525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H O S 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4661" y="2582113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接待专员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4661" y="2888589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核 心 职 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4661" y="3075889"/>
            <a:ext cx="255117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迎宾、确认预约、寄存与指引；30 秒内问候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按会谈性质选区并引导入座，识别 VIP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受理接待单与活动单，建档、查档期、对接客户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当日复盘、三日内回访并把客户偏好写入档案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4661" y="4196181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在 四 类 场 景 中 的 分 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4661" y="4392625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4469" y="4392625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常驻前厅，是 84 层的第一触点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64661" y="4776673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路演厅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14469" y="4776673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活动日移至签到台，负责签到—引导—入场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4661" y="516072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高端会客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4469" y="5160721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VIP 于换乘层接引；全程陪同至送客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64661" y="5544769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活动接待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14469" y="5544769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主责：名单前置推送大堂、迟到者后门后排入场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2141" y="1938528"/>
            <a:ext cx="2551176" cy="29260"/>
          </a:xfrm>
          <a:prstGeom prst="rect">
            <a:avLst/>
          </a:prstGeom>
          <a:solidFill>
            <a:srgbClr val="C9976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62141" y="211957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巡场 · 桌面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62141" y="2376525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C9976A"/>
                </a:solidFill>
                <a:latin typeface="Arial"/>
                <a:ea typeface="PingFang SC"/>
                <a:cs typeface="Arial"/>
              </a:rPr>
              <a:t>F L O O 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62141" y="2582113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由接待与弹性用工兼任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2141" y="2888589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核 心 职 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62141" y="3075889"/>
            <a:ext cx="255117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送杯到座；每 30 分钟一轮续水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桌面归零：吧台空位 3 分钟、桌位 5 分钟内清理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路演厅日常模式的场地看管与当日申请受理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场地复位：桌椅、灯光音乐与遮光分区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62141" y="4196181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在 四 类 场 景 中 的 分 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2141" y="4392625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11949" y="4392625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全时段；午间补给与午后洽谈时段为峰值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2141" y="4776673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路演厅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11949" y="4776673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日常模式由巡场兼管，不专设人力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62141" y="516072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高端会客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11949" y="5160721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不打断谈话前提下续水与撤空杯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62141" y="5544769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活动接待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11949" y="5544769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活动日转为引导点位与茶歇补台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59621" y="1938528"/>
            <a:ext cx="2551176" cy="29260"/>
          </a:xfrm>
          <a:prstGeom prst="rect">
            <a:avLst/>
          </a:prstGeom>
          <a:solidFill>
            <a:srgbClr val="3E5A7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59621" y="211957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活动支援 · 浮动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59621" y="2376525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E V E N 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59621" y="2582113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活动执行 / 路演统筹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59621" y="2888589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核 心 职 责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9621" y="3075889"/>
            <a:ext cx="255117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需求确认、方案定稿、BEO 执行单下发与全岗位分发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设备调试与技术彩排；留备份方案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现场站位协调、时间轴打点、突发处置卡执行</a:t>
            </a:r>
          </a:p>
          <a:p>
            <a:pPr algn="l">
              <a:lnSpc>
                <a:spcPct val="166659"/>
              </a:lnSpc>
              <a:spcBef>
                <a:spcPts val="30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· 撤场复位、当日复盘表与费用结算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59621" y="4196181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在 四 类 场 景 中 的 分 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59621" y="4392625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9429" y="4392625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活动日负责与吧台的茶歇时点咬合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59621" y="4776673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路演厅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9429" y="4776673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主责：T-30 至 T+7 八个节点的全程责任人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59621" y="516072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高端会客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9429" y="5160721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闭门圆桌配 1 名专属服务，全程不离场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59621" y="5544769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活动接待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9429" y="5544769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主责：六个固定引导点位加一个机动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7181" y="5961888"/>
            <a:ext cx="10651845" cy="274320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7181" y="5961888"/>
            <a:ext cx="25603" cy="27432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" y="6024829"/>
            <a:ext cx="10332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岗位说明书与排班规则由运营管理部在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开业前 90 天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交付（见第 19 页六份文件）。上表为职责框架；具体到人的定岗、职级与薪酬结构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待确认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员工职责及岗位分配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排班跟着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五个时段和路演厅档期走</a:t>
            </a: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，不是固定两班倒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基础营业时段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工作日 08:00—19:00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，有活动日按活动结束时间顺延，最晚不超过 21:30。三个班次的重叠区正好压住每日两个高峰；真正需要外部增援的，只有活动日。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" y="1891893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三 班 制   ·   重 叠 区 压 高 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897380"/>
            <a:ext cx="731520" cy="160020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0340" y="1921306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班次待确认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301" y="217093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08:00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5861" y="217093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11:00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7421" y="217093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14:00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8981" y="217093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17:00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0541" y="217093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21:30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7181" y="2395728"/>
            <a:ext cx="2355494" cy="256032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" y="2449525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早班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" y="267355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07:30 — 16:00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4501" y="2673553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咖啡主管 1 ＋ 咖啡师 1 ＋ 接待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8429" y="2999232"/>
            <a:ext cx="2187244" cy="256032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81581" y="3053029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中班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81" y="3277057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10:00 — 19:00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84501" y="3277057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咖啡师 1 ＋ 接待 1 ＋ 活动执行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02052" y="3602736"/>
            <a:ext cx="2271369" cy="256032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5204" y="365653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晚班 / 活动班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81" y="3880561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13:00 — 21:30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84501" y="3880561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咖啡师 1 ＋ 接待 1 ＋ 活动执行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181" y="4264609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重叠区（10:00—16:00）是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三个班次同时在岗的时段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，正好覆盖商务接待与午间翻台两个高峰。店长不固定班次，按当周档期压在活动日与高峰时段。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7181" y="4956048"/>
            <a:ext cx="4206240" cy="969264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7181" y="4956048"/>
            <a:ext cx="25603" cy="969264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925" y="51389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排 班 的 三 条 硬 规 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925" y="5376672"/>
            <a:ext cx="37307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一、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接待岗任何营业时段不得空岗；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二、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活动日前一天锁定班表，不再调整；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三、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每日班前会 10 分钟，明确今日客人是谁、几点到、谁负责。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1891893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六 类 高 峰 与 调 配 逻 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2103120"/>
            <a:ext cx="6024067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2271217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每日 10:00—12:00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2440381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商务接待高峰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227121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接待岗必须在位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，吧台 1 ＋ 接待 1；巡场由中班兼。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5248" y="2280513"/>
            <a:ext cx="14337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2209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固定排班覆盖，不额外调人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2770632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2842717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每日 12:00—14:00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3011881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午间翻台高峰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4032" y="284271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吧台 1 ＋ 巡场 1；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店长下场兼巡场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，保证 5 分钟桌位清理时限。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85248" y="2852013"/>
            <a:ext cx="14337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2209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内部调配，不增加成本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60" y="3342132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0" y="3414217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有活动日 · 会前 1 小时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3583381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签到与迎宾高峰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4032" y="341421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咖啡厅派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接待 1 ＋ 巡场 1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支援签到台；活动执行 2 人全部到岗；六个引导点位加一个机动。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85248" y="3423513"/>
            <a:ext cx="14337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2209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由弹性用工池补咖啡厅在岗缺口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3913631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4960" y="3985717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有活动日 · 茶歇时段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4960" y="4154881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出品高峰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4032" y="398571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吧台增至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1—2 人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，茶歇在咖啡厅侧出品与补台；同时段停止新增商务接待预约（前后各 30 分钟）。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85248" y="3995013"/>
            <a:ext cx="14337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2209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弹性用工池 ＋ 出品伙伴按 BEO 增援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94960" y="4485131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0" y="4557217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连续多日培训 / 认证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94960" y="4726381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持续占用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14032" y="455721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路演厅锁档一周，活动执行 1 人对接即可（AV 强度最低）；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咖啡厅按常规班次运行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85248" y="4566513"/>
            <a:ext cx="14337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2209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最不消耗人力的档期类型 —— 优先承接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94960" y="5056631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0" y="5128717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酒会 / 展陈 / 品牌发布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5297881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峰值场景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14032" y="512871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站立式 120—150 人，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引导与出品同时进入峰值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；须提前两周确认人手方案，必要时由活动执行伙伴带队增援。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85248" y="5138013"/>
            <a:ext cx="14337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2209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弹性用工 ＋ 伙伴增援，成本计入单场报价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94960" y="5628131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0" y="5860389"/>
            <a:ext cx="60240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15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弹性用工池全年预算 </a:t>
            </a:r>
            <a:r>
              <a:rPr sz="6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65,850 元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（由人力成本总额反推，约合 </a:t>
            </a:r>
            <a:r>
              <a:rPr sz="6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5,488 元/月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）。按什么单价、用多少工时兑现，</a:t>
            </a: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待确认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；建议在开业第八周的第一次财务校准中一并核实。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员工职责及岗位分配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把编制和档期放在一张表上，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缺口一眼就能看见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这是一张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示例周班表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，用来说明排班规则怎么落到人：列是一周六个工作日，行是 10 个固定编制加弹性池，底色跟第 15 页的三色周历一一对应。真实班表在开业前 90 天随《岗位说明书与排班规则》交付。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00732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周一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4096" y="2139696"/>
            <a:ext cx="896112" cy="169164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2163622"/>
            <a:ext cx="896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5D7185"/>
                </a:solidFill>
                <a:latin typeface="Arial"/>
                <a:ea typeface="PingFang SC"/>
                <a:cs typeface="Arial"/>
              </a:rPr>
              <a:t>日常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1900732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周二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4" y="2139696"/>
            <a:ext cx="896112" cy="16916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2163622"/>
            <a:ext cx="896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预约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1900732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周三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33872" y="2139696"/>
            <a:ext cx="896112" cy="169164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2163622"/>
            <a:ext cx="896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5D7185"/>
                </a:solidFill>
                <a:latin typeface="Arial"/>
                <a:ea typeface="PingFang SC"/>
                <a:cs typeface="Arial"/>
              </a:rPr>
              <a:t>日常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900732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周四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139696"/>
            <a:ext cx="896112" cy="169164"/>
          </a:xfrm>
          <a:prstGeom prst="rect">
            <a:avLst/>
          </a:prstGeom>
          <a:solidFill>
            <a:srgbClr val="2F425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163622"/>
            <a:ext cx="896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900732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周五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13648" y="2139696"/>
            <a:ext cx="896112" cy="169164"/>
          </a:xfrm>
          <a:prstGeom prst="rect">
            <a:avLst/>
          </a:prstGeom>
          <a:solidFill>
            <a:srgbClr val="2F425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8" y="2163622"/>
            <a:ext cx="896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活动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900732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周六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2139696"/>
            <a:ext cx="896112" cy="16916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03536" y="2163622"/>
            <a:ext cx="896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预约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81" y="191018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岗 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" y="215889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路演厅当日档期状态 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7181" y="2377440"/>
            <a:ext cx="10651845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7181" y="2495245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运营负责人 / 店长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72768" y="2560320"/>
            <a:ext cx="68580" cy="105156"/>
          </a:xfrm>
          <a:prstGeom prst="rect">
            <a:avLst/>
          </a:prstGeom>
          <a:solidFill>
            <a:srgbClr val="C9500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00784" y="2509113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44368" y="2510028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44368" y="254843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34256" y="2510028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34256" y="254843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24144" y="2510028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24144" y="254843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14032" y="2510028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2" y="254843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19" y="2510028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19" y="254843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93807" y="2510028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93807" y="254843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7181" y="2756916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7181" y="2774137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咖啡主管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72768" y="2839212"/>
            <a:ext cx="68580" cy="105156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00784" y="2788005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吧台 · 出品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44368" y="2788920"/>
            <a:ext cx="1115568" cy="21488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44368" y="282732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34256" y="2788920"/>
            <a:ext cx="1115568" cy="21488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34256" y="282732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24144" y="2788920"/>
            <a:ext cx="1115568" cy="21488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24144" y="282732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14032" y="2788920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14032" y="282732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03919" y="2788920"/>
            <a:ext cx="1115568" cy="21488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19" y="282732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93807" y="2788920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93807" y="282732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7181" y="3035808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7181" y="3053029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咖啡师 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72768" y="3118104"/>
            <a:ext cx="68580" cy="105156"/>
          </a:xfrm>
          <a:prstGeom prst="rect">
            <a:avLst/>
          </a:prstGeom>
          <a:solidFill>
            <a:srgbClr val="E8A5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00784" y="3066897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吧台 · 出品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44368" y="3067812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44368" y="310621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34256" y="3067812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34256" y="310621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24144" y="3067812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24144" y="310621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14032" y="3067812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14032" y="310621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03919" y="3067812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03919" y="310621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93807" y="3067812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93807" y="310621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7181" y="3314700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7181" y="333192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咖啡师 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72768" y="3396996"/>
            <a:ext cx="68580" cy="105156"/>
          </a:xfrm>
          <a:prstGeom prst="rect">
            <a:avLst/>
          </a:prstGeom>
          <a:solidFill>
            <a:srgbClr val="E8A5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00784" y="3345789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吧台 · 出品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44368" y="3346704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44368" y="338510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34256" y="3346704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34256" y="338510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24144" y="3346704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24144" y="338510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14032" y="3346704"/>
            <a:ext cx="1115568" cy="21488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14032" y="338510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早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19" y="3346704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03919" y="338510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93807" y="3346704"/>
            <a:ext cx="1115568" cy="21488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93807" y="338510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早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7181" y="3593592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7181" y="361081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咖啡师 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72768" y="3675888"/>
            <a:ext cx="68580" cy="105156"/>
          </a:xfrm>
          <a:prstGeom prst="rect">
            <a:avLst/>
          </a:prstGeom>
          <a:solidFill>
            <a:srgbClr val="E8A5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700784" y="3624681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吧台 · 出品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44368" y="3625596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44368" y="366400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34256" y="3625596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334256" y="366400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724144" y="3625596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724144" y="366400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114032" y="3625596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114032" y="366400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503919" y="3625596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03919" y="366400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93807" y="3625596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893807" y="366400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67181" y="3872484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67181" y="3889705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接待专员 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572768" y="3954780"/>
            <a:ext cx="68580" cy="105156"/>
          </a:xfrm>
          <a:prstGeom prst="rect">
            <a:avLst/>
          </a:prstGeom>
          <a:solidFill>
            <a:srgbClr val="943E1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700784" y="3903573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接待 · 引导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944368" y="3904488"/>
            <a:ext cx="1115568" cy="21488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944368" y="39428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早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334256" y="3904488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334256" y="39428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724144" y="3904488"/>
            <a:ext cx="1115568" cy="21488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724144" y="39428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早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114032" y="3904488"/>
            <a:ext cx="1115568" cy="21488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114032" y="39428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早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503919" y="3904488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503919" y="39428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893807" y="3904488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893807" y="39428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67181" y="4151376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67181" y="4168597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接待专员 B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572768" y="4233672"/>
            <a:ext cx="68580" cy="105156"/>
          </a:xfrm>
          <a:prstGeom prst="rect">
            <a:avLst/>
          </a:prstGeom>
          <a:solidFill>
            <a:srgbClr val="943E1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700784" y="4182465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接待 · 引导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944368" y="4183380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944368" y="422178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334256" y="4183380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334256" y="422178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724144" y="4183380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724144" y="422178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114032" y="4183380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114032" y="422178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503919" y="4183380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503919" y="422178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893807" y="4183380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893807" y="4221784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7181" y="4430268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67181" y="4447489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接待专员 C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572768" y="4512564"/>
            <a:ext cx="68580" cy="105156"/>
          </a:xfrm>
          <a:prstGeom prst="rect">
            <a:avLst/>
          </a:prstGeom>
          <a:solidFill>
            <a:srgbClr val="943E1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700784" y="4461357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接待 · 引导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944368" y="4462272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944368" y="450067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334256" y="4462272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334256" y="450067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724144" y="4462272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724144" y="450067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114032" y="4462272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114032" y="450067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503919" y="4462272"/>
            <a:ext cx="1115568" cy="21488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503919" y="450067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早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893807" y="4462272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893807" y="450067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67181" y="4709160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67181" y="472638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活动执行 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572768" y="4791455"/>
            <a:ext cx="68580" cy="105156"/>
          </a:xfrm>
          <a:prstGeom prst="rect">
            <a:avLst/>
          </a:prstGeom>
          <a:solidFill>
            <a:srgbClr val="3E5A7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700784" y="4740249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活动支援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944368" y="4741164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944368" y="477956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334256" y="4741164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334256" y="477956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724144" y="4741164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724144" y="477956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114032" y="4741164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114032" y="477956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503919" y="4741164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503919" y="477956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893807" y="4741164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893807" y="4779568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67181" y="4988052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67181" y="500527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活动执行 B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572768" y="5070347"/>
            <a:ext cx="68580" cy="105156"/>
          </a:xfrm>
          <a:prstGeom prst="rect">
            <a:avLst/>
          </a:prstGeom>
          <a:solidFill>
            <a:srgbClr val="3E5A7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700784" y="5019141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活动支援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944368" y="5020055"/>
            <a:ext cx="1115568" cy="21488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944368" y="505846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334256" y="5020055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34256" y="505846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724144" y="5020055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724144" y="505846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114032" y="5020055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114032" y="505846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503919" y="5020055"/>
            <a:ext cx="1115568" cy="21488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503919" y="505846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9893807" y="5020055"/>
            <a:ext cx="1115568" cy="21488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893807" y="5058460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67181" y="5266944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67181" y="5284165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弹性用工池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572768" y="5349239"/>
            <a:ext cx="68580" cy="105156"/>
          </a:xfrm>
          <a:prstGeom prst="rect">
            <a:avLst/>
          </a:prstGeom>
          <a:solidFill>
            <a:srgbClr val="A8AEB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700784" y="5298033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浮动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334256" y="5298947"/>
            <a:ext cx="1115568" cy="214884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334256" y="533735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757C"/>
                </a:solidFill>
                <a:latin typeface="Arial"/>
                <a:ea typeface="PingFang SC"/>
                <a:cs typeface="Arial"/>
              </a:rPr>
              <a:t>弹性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114032" y="5298947"/>
            <a:ext cx="1115568" cy="214884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114032" y="533735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757C"/>
                </a:solidFill>
                <a:latin typeface="Arial"/>
                <a:ea typeface="PingFang SC"/>
                <a:cs typeface="Arial"/>
              </a:rPr>
              <a:t>弹性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503919" y="5298947"/>
            <a:ext cx="1115568" cy="214884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503919" y="533735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757C"/>
                </a:solidFill>
                <a:latin typeface="Arial"/>
                <a:ea typeface="PingFang SC"/>
                <a:cs typeface="Arial"/>
              </a:rPr>
              <a:t>弹性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93807" y="5298947"/>
            <a:ext cx="1115568" cy="214884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893807" y="533735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757C"/>
                </a:solidFill>
                <a:latin typeface="Arial"/>
                <a:ea typeface="PingFang SC"/>
                <a:cs typeface="Arial"/>
              </a:rPr>
              <a:t>弹性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67181" y="5545836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67181" y="5695797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班 次 说 明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67181" y="5907024"/>
            <a:ext cx="420624" cy="169164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67181" y="593095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早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279245" y="592622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早班 07:30—16:00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906877" y="5907024"/>
            <a:ext cx="420624" cy="169164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906877" y="593095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418941" y="592622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中班 10:00—19:00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046573" y="5907024"/>
            <a:ext cx="420624" cy="169164"/>
          </a:xfrm>
          <a:prstGeom prst="rect">
            <a:avLst/>
          </a:prstGeom>
          <a:solidFill>
            <a:srgbClr val="E4E8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5046573" y="593095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晚/活动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558637" y="592622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晚班 / 活动班 13:00—21:30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186269" y="5907024"/>
            <a:ext cx="420624" cy="169164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186269" y="593095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9AA0A6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698333" y="592622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休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9325965" y="5907024"/>
            <a:ext cx="420624" cy="169164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325965" y="593095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6E757C"/>
                </a:solidFill>
                <a:latin typeface="Arial"/>
                <a:ea typeface="PingFang SC"/>
                <a:cs typeface="Arial"/>
              </a:rPr>
              <a:t>弹性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838029" y="592622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弹性用工池 · 按活动规模调用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67181" y="6180429"/>
            <a:ext cx="1065184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读这张表的方法：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看深蓝的「活动」两列——周四、周五在岗人数明显更满，弹性池也在这两天被调用；这就是第 25 页说的「真正需要外部增援的只有活动日」。</a:t>
            </a: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本表为示例排布，不构成排班承诺；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实际班表按当月档期锁定，活动日前一天定稿后不再调整。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员工职责及岗位分配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人是最大的一笔成本，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也是唯一能改变结论的变量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第一年人力成本占营业支出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48.1%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，是六项支出里最大的一项，且逐年递增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4.31%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。它既决定服务水准能不能兑现，也直接决定这门生意五年后是盈是亏。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" y="1891893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五 年 人 力 成 本 与 占 比   ·   真 实 测 算 数 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181" y="2243785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第一年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249424"/>
            <a:ext cx="2351660" cy="214884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6192" y="2280513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1,229,850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243785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48.1%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181" y="2636977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第二年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642616"/>
            <a:ext cx="2453109" cy="214884"/>
          </a:xfrm>
          <a:prstGeom prst="rect">
            <a:avLst/>
          </a:prstGeom>
          <a:solidFill>
            <a:srgbClr val="F0A4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36192" y="2673705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1,282,905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2636977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48.6%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" y="303016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第三年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035808"/>
            <a:ext cx="2559631" cy="214884"/>
          </a:xfrm>
          <a:prstGeom prst="rect">
            <a:avLst/>
          </a:prstGeom>
          <a:solidFill>
            <a:srgbClr val="F0A4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3066897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1,338,613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3030169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49.1%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" y="3423361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第四年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3429000"/>
            <a:ext cx="2671479" cy="214884"/>
          </a:xfrm>
          <a:prstGeom prst="rect">
            <a:avLst/>
          </a:prstGeom>
          <a:solidFill>
            <a:srgbClr val="F0A4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36192" y="3460089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1,397,106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3423361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51.3%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" y="3816553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第五年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3822192"/>
            <a:ext cx="2788920" cy="214884"/>
          </a:xfrm>
          <a:prstGeom prst="rect">
            <a:avLst/>
          </a:prstGeom>
          <a:solidFill>
            <a:srgbClr val="F0A4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36192" y="3853281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1,458,524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3816553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52.4%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81" y="4269333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条形长度为人力成本绝对值，右列为占当年营业支出比重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181" y="4561941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 一 年 营 业 支 出 结 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181" y="4758385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人力成本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4807915"/>
            <a:ext cx="1231353" cy="105156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475838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48.1%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4758385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1,229,850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181" y="497326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物料成本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5022799"/>
            <a:ext cx="672567" cy="105156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4973269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26.3%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5424" y="4973269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671,746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7181" y="518815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能耗费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5237683"/>
            <a:ext cx="450550" cy="105156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518815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17.6%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5424" y="5188153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450,000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7181" y="5403037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维保费用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5452567"/>
            <a:ext cx="87737" cy="105156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0" y="5403037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3.4%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5424" y="5403037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87,630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181" y="5617921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附加税+财务费用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5667451"/>
            <a:ext cx="20625" cy="105156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0" y="561792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0.8%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35424" y="5617921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20,600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7181" y="5832805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折旧摊销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5882335"/>
            <a:ext cx="97486" cy="105156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0" y="583280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3.8%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35424" y="5832805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97,367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1891893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人 员 配 置 与 财 务 结 论 的 三 条 关 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94960" y="2103120"/>
            <a:ext cx="6024067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0" y="227594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70448" y="2252776"/>
            <a:ext cx="5541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编制决定服务水准的上限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70448" y="2508961"/>
            <a:ext cx="55412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十人编制支撑的是「接待岗不空岗、巡场 30 分钟一轮、桌位 5 分钟清理」这一套时效标尺。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若编制下调，先失守的一定是接待岗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——而接待岗正是第 11 页所说「84 层的第一触点」。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70448" y="3135477"/>
            <a:ext cx="55412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当前口径：10 人 ＋ 弹性用工池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94960" y="3346704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0" y="346466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70448" y="3441496"/>
            <a:ext cx="5541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人力是缺口的主要来源，也是最快的杠杆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70448" y="3697681"/>
            <a:ext cx="55412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第一年缺口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183,689 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。若单靠压人力补平，需下调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14.9%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（降到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1,046,161 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）——相当于砍掉约 1.5 个固定岗，服务标准随之失守。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70448" y="4324197"/>
            <a:ext cx="55412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不建议：以降编制求平衡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94960" y="4535424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94960" y="465338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70448" y="4630216"/>
            <a:ext cx="5541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更可行的是把人用在能产生收入的时段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70448" y="4886401"/>
            <a:ext cx="55412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同样一笔人力成本，用在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路演厅档期与活动日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上的边际收益远高于日常时段。第一年只需路演厅月收入从 120,000 元提到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135,307 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（+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12.8%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）即可补平缺口——这比裁员更现实。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70448" y="5512917"/>
            <a:ext cx="55412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建议：以提高档期使用率求平衡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94960" y="5724144"/>
            <a:ext cx="60240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394960" y="5888736"/>
            <a:ext cx="6024067" cy="384048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394960" y="5888736"/>
            <a:ext cx="25603" cy="38404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32704" y="6071616"/>
            <a:ext cx="55668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32704" y="6309360"/>
            <a:ext cx="5548579" cy="-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人力单价、社保公积金口径、伙伴服务费是否计入本项，均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待确认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；总额 1,229,850 元为真实测算数据，不因编制方案调整而变化。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18320" y="-46939"/>
            <a:ext cx="200253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267629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60">
                <a:solidFill>
                  <a:srgbClr val="754525"/>
                </a:solidFill>
                <a:latin typeface="Arial"/>
                <a:ea typeface="PingFang SC"/>
                <a:cs typeface="Arial"/>
              </a:rPr>
              <a:t>S E C T I O N 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177" y="2903067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 spc="20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持续经营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695" y="377906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B88"/>
                </a:solidFill>
                <a:latin typeface="Arial"/>
                <a:ea typeface="PingFang SC"/>
                <a:cs typeface="Arial"/>
              </a:rPr>
              <a:t>怎么让空间一直有人用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7088" y="435025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0903" y="4317187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客户来源与业务拓展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4375251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29–30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7088" y="4638751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7088" y="476813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0903" y="4735067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运营节奏与阶段性发展规划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4793132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31–33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7088" y="5056631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7088" y="5186019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0903" y="51529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未来价值与空间联动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5211013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34–35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97088" y="5474512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7088" y="560390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0903" y="5570829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财务测算与待确认事项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5628894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37–45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7088" y="5892393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" y="6385102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5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客户来源与业务拓展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客户不用从零开发，我们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坐在三张网的交点上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2089251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4381" y="2089251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楼内与楼宇集群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0301" y="215417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最近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181" y="263103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459,187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1693" y="274670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81" y="2934309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项目总建筑面积（含裙房商业）</a:t>
            </a:r>
          </a:p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公开资料口径，另有 460,665 ㎡ 一说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9949" y="263103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85—112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6333" y="274670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9949" y="2934309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经 84 层换乘的</a:t>
            </a:r>
          </a:p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高区办公楼层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" y="326349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" y="3437077"/>
            <a:ext cx="3291840" cy="479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楼内金融、法律、咨询、科技与外资企业；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85 层共享办公的入驻客户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；来访这些企业的外部客户。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" y="390723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他们一年会产生什么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" y="4080814"/>
            <a:ext cx="3291840" cy="479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客户接待、董事会与投委会、内部培训、年度会议、产品发布、招聘宣讲、媒体沟通。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" y="455096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怎么触达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" y="4724552"/>
            <a:ext cx="3291840" cy="479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按岗位打，不按公司打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：行政部 / HR / 培训、市场品牌、投关 / 董办——场地决策权在这四个岗位手里。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181" y="5614416"/>
            <a:ext cx="1618488" cy="182880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" y="5645505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第一批 · 开业前即启动走访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711" y="2089251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5911" y="2089251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平安集团条线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1831" y="215417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8711" y="263103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109—112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0759" y="274670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711" y="2934309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集团总部所在楼层（另含 47—48 层）</a:t>
            </a:r>
          </a:p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就在 84 层之上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1479" y="263103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≥60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335" y="274670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1479" y="2934309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平安系占楼内楼面比例</a:t>
            </a:r>
          </a:p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原方案引用 · 待核实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8711" y="326349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711" y="3437077"/>
            <a:ext cx="3291840" cy="2944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集团及各专业公司在深圳的行政、培训、品牌、客户经营与投关条线。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8711" y="372252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他们一年会产生什么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8711" y="3896106"/>
            <a:ext cx="3291840" cy="479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高端客户答谢与客户经营活动、内部培训与认证、机构调研接待、媒体沟通、重要来宾接待。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8711" y="43662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怎么触达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8711" y="4539843"/>
            <a:ext cx="3291840" cy="479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需与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集团行政、财务、合规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三方确认预约入口、结算口径与报备路径，形成《84 层内部使用管理办法》。</a:t>
            </a:r>
            <a:r>
              <a:rPr sz="7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这是开业前置条件，不是开业后再谈。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8711" y="5614416"/>
            <a:ext cx="1723644" cy="182880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2719" y="5645505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与第一批并行 · 但需前置审批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72983" y="2089251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0183" y="2089251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福田 CBD 生态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6104" y="215417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最远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72983" y="263103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303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4840" y="274670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2983" y="2934309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福田区持牌金融机构</a:t>
            </a:r>
          </a:p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占全市近六成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263103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17608" y="274670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5752" y="2934309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市级总部企业</a:t>
            </a:r>
          </a:p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约占全市三成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2983" y="326349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72983" y="3437077"/>
            <a:ext cx="3291840" cy="479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券商投行的策略会分论坛与闭门圆桌、VC / PE 与创投机构、行业协会与商会、高端品牌方。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72983" y="390723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两项可用的政策抓手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72983" y="4080814"/>
            <a:ext cx="3291840" cy="848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① 深圳「创投十九条」（《促进风投创投高质量发展行动方案 2025—2026》）：到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2026 年底备案基金数突破 1 万家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，创投机构的活动需求随之上升。② 市商务局《建设国际会展之都的若干措施》：符合条件的国际性会议，主办方可按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实际场租的 50% 申请资助，每届最高 100 万元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</a:t>
            </a:r>
            <a:r>
              <a:rPr sz="7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我们不只给场地，还给申报支持。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72983" y="492038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怎么触达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72983" y="5093970"/>
            <a:ext cx="3291840" cy="2944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会务公司渠道、场地平台上架、主题 IP 自办活动、老客户转介绍。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72983" y="5614416"/>
            <a:ext cx="1408176" cy="182880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36992" y="5645505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试运营期起 · 逐步铺开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7181" y="6029706"/>
            <a:ext cx="1065184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核实说明：303 家 / 126 家取自福田区政府「福田概况」（2026-02 更新）；「创投十九条」基金数目标与会展资助比例已分别核对至原政策文件（两项出自不同政策，本页已拆开表述）；459,187 ㎡ 公开资料口径不一；「平安系占楼面 ≥60%」未能从公开资料核实，标注待核实。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客户来源与业务拓展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不靠等询盘，靠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六条常设管线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提高使用率的关键不是「多接活动」，而是让获客变成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有责任岗、有频率、有交付物的日常动作。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181" y="197418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六 条 常 设 获 客 管 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" y="223464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1229" y="221620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楼内企业走访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181" y="2463241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行政 / HR 与培训 / 市场品牌 / 投关与董办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四个岗位逐户走访，建立年度需求日历。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81" y="2925165"/>
            <a:ext cx="3310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 </a:t>
            </a: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运营管理部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频率：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每周 3—5 家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交付：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走访记录 · 需求日历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7181" y="3127248"/>
            <a:ext cx="3310128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3341" y="223464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7389" y="221620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集团条线宣贯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3341" y="2463241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向集团各专业公司行政与培训条线宣贯 84 层能力清单，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先把内部预约入口打通。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3341" y="2925165"/>
            <a:ext cx="3310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 </a:t>
            </a: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运营管理部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频率：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每季一轮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交付：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内部使用管理办法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3341" y="3127248"/>
            <a:ext cx="3310128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" y="322219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1229" y="320375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会务与活动公司渠道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" y="3450793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与本地会务、公关与活动执行公司建立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场地供应商关系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，成为其提案里的默认选项。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" y="3912717"/>
            <a:ext cx="3310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 </a:t>
            </a: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运营管理部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频率：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每月维护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交付：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渠道名录 · 场地资料包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7181" y="4114800"/>
            <a:ext cx="3310128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3341" y="322219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7389" y="320375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行业机构与协会合作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3341" y="3450793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对接金融、创投与产业协会，承接其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系列活动的固定场地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——一次合作锁一年档期。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3341" y="3912717"/>
            <a:ext cx="3310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 </a:t>
            </a: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运营管理部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频率：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持续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交付：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合作备忘 · 年度档期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3341" y="4114800"/>
            <a:ext cx="3310128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181" y="420974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1229" y="419130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自办主题活动 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181" y="4438345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自办小型沙龙与闭门圆桌，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用自己的活动把目标客户请上来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，再转化为付费客户。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181" y="4900269"/>
            <a:ext cx="3310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 </a:t>
            </a: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运营管理部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频率：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每月 1 场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交付：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活动方案 · 到场名单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7181" y="5102352"/>
            <a:ext cx="3310128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33341" y="420974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7389" y="419130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老客户复用与转介绍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3341" y="4438345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每场活动 T+7 回访时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直接提出下一次档期建议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，并请其推荐一家同类机构。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3341" y="4900269"/>
            <a:ext cx="3310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责任： </a:t>
            </a: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咖啡厅前台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频率：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每场必做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　　交付： 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回访记录 · 转介绍线索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33341" y="5102352"/>
            <a:ext cx="3310128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8782" y="205374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四 级 漏 斗   ·   怎 么 往 下 推 一 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1934" y="222001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L0 认知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8782" y="2528315"/>
            <a:ext cx="33302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970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知道 84 层可以办活动。</a:t>
            </a: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　往下推靠：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走访、渠道曝光、自办活动邀请。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1934" y="279151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L1 询单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8782" y="3099815"/>
            <a:ext cx="33302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970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来问过档期与价格。</a:t>
            </a: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　往下推靠：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当天给出方案与报价，并邀请实地看场。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934" y="337489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L2 首单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8782" y="3684117"/>
            <a:ext cx="33302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970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办了第一场。</a:t>
            </a: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　往下推靠：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一次「很省心」的完整交付。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934" y="394639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L3 复用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8782" y="4255617"/>
            <a:ext cx="33302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970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一年办了两场以上。</a:t>
            </a:r>
            <a:r>
              <a:rPr sz="6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　往下推靠：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回访时主动提档期建议，给复用价与优先权。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934" y="4530699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L4 年度框架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88782" y="4839004"/>
            <a:ext cx="33302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970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签年度协议，锁定全年档期。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5203" y="5686653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客 户 档 案 里 最 重 要 的 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55203" y="5889345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这家客户什么时候定明年预算。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运营节奏与阶段性发展规划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运营不是装修的下一步，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是装修的上一步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建设线与运营线必须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并行推进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。运营介入的最晚时点不是开业前，而是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图纸深化结束之前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——错过这个点，储藏间、电源点位、排风与灯控分区就只能靠开业后拆改补救。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4796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D-12 → D（开业前 · 筹备期）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53081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把体系建起来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58338"/>
            <a:ext cx="31546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13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目标：开业当天，六份运营文件齐备、人员到岗受训、首批客户已走访、首月档期已有预约。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064" y="3184855"/>
            <a:ext cx="3044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图纸深化 · 运营需求书并入设计条件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3439058"/>
            <a:ext cx="3044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消防报建 · 施工招采立项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3692347"/>
            <a:ext cx="3044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进场装修 · 机电与弱电施工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3946550"/>
            <a:ext cx="3044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完工与竣工验收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" y="4339742"/>
            <a:ext cx="3044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运营提资清单提交设计院（详见下一页）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4593945"/>
            <a:ext cx="3044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运营模式定案：1＋2＋N；伙伴招采启动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5064" y="4847234"/>
            <a:ext cx="3044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编制六份运营文件：岗位 · 服务 · 产品 · 客户 · 活动 · 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5101437"/>
            <a:ext cx="3044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A4A25"/>
                </a:solidFill>
                <a:latin typeface="Arial"/>
                <a:ea typeface="PingFang SC"/>
                <a:cs typeface="Arial"/>
              </a:rPr>
              <a:t>人员招聘与培训 · 供应商定标 · 物料首单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5354726"/>
            <a:ext cx="3044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客源走访启动：楼内企业与集团条线；预售首月档期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10479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D → D+3（试运营期）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253081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把流程跑通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558338"/>
            <a:ext cx="2240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13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目标：先对内、后对外。用楼内与集团客户把 SOP 跑顺，校准编制、备料与报价，完成第一次财务测算校准。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8344" y="3184855"/>
            <a:ext cx="21305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整改与缺陷修补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8344" y="3439058"/>
            <a:ext cx="21305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设备磨合与调试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4" y="4339742"/>
            <a:ext cx="21305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限定客群开放：楼内租户与集团条线优先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8344" y="4593945"/>
            <a:ext cx="21305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A4A25"/>
                </a:solidFill>
                <a:latin typeface="Arial"/>
                <a:ea typeface="PingFang SC"/>
                <a:cs typeface="Arial"/>
              </a:rPr>
              <a:t>跑通五个时段模式卡与两条触发流程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8344" y="4847234"/>
            <a:ext cx="21305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A4A25"/>
                </a:solidFill>
                <a:latin typeface="Arial"/>
                <a:ea typeface="PingFang SC"/>
                <a:cs typeface="Arial"/>
              </a:rPr>
              <a:t>校准编制、备料量与出品参数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8344" y="5101437"/>
            <a:ext cx="21305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第一次财务测算校准（开业第 8 周）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104796"/>
            <a:ext cx="40123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D+3 起（稳定运营期）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253081"/>
            <a:ext cx="40123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把机制固化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558338"/>
            <a:ext cx="39209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413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目标：形成月度档期机制与年度框架客户，自办主题活动开始产生复用，指标进入常态化考核。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7223" y="3184855"/>
            <a:ext cx="38112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质保期维护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7223" y="3439058"/>
            <a:ext cx="38112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按运营反馈做小幅优化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7223" y="4339742"/>
            <a:ext cx="38112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全客群开放：外部机构与品牌客户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7223" y="4593945"/>
            <a:ext cx="38112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A4A25"/>
                </a:solidFill>
                <a:latin typeface="Arial"/>
                <a:ea typeface="PingFang SC"/>
                <a:cs typeface="Arial"/>
              </a:rPr>
              <a:t>月度档期会 · 三色周历进入常态管理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7223" y="4847234"/>
            <a:ext cx="38112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年度框架协议签约；档期优先权作为条款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7223" y="5101437"/>
            <a:ext cx="38112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A4A25"/>
                </a:solidFill>
                <a:latin typeface="Arial"/>
                <a:ea typeface="PingFang SC"/>
                <a:cs typeface="Arial"/>
              </a:rPr>
              <a:t>自办主题活动 IP 落地，形成固定节奏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7181" y="322326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建 设 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181" y="436626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运 营 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7181" y="5819089"/>
            <a:ext cx="1065184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运营提资截止点 · 图纸深化结束前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　｜　开业 D　｜　第一次财务测算校准：开业第 8 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运营节奏与阶段性发展规划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十四件事倒排到开业，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每件都有人、有交付物、有时点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第 31 页讲的是三个阶段的节奏，这一页把它拆成可以直接排进计划的十四条。橙色标记的是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八条关键路径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——其中三条有硬时间窗，过期无法补救：运营提资、内部使用管理办法、团队定人。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181" y="1920240"/>
            <a:ext cx="10651845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7181" y="204734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时 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047341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相 对 开 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2047341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事 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4734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责 任 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047341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交 付 物   /   验 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741" y="2308860"/>
            <a:ext cx="45720" cy="22402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7181" y="230306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D-12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2307793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开业前 12 个月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6" y="2307793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运营团队定人：明确编制来源与到岗时点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307793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管理层 ＋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307793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编制批复 · 到岗计划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7181" y="2519172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5741" y="2548432"/>
            <a:ext cx="45720" cy="22402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" y="254264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D-12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2547366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开业前 12 个月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1216" y="2547366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运营提资清单并入设计条件，参加设计交底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54736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运营管理部 ＋ 工程条线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547366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《运营提资清单》签收回执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7181" y="2758744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5741" y="2788005"/>
            <a:ext cx="45720" cy="22402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7181" y="278221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D-12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2786938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开业前 12 个月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71216" y="2786938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函调物业客流与费率数据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78693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运营管理部（需授权）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786938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客流数据 · 加时费率函复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7181" y="2998317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7181" y="3021787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D-10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3026511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开业前 10 个月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71216" y="3026511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同类场地市场行情调研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026511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运营管理部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026511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定价带调研报告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7181" y="3237890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5741" y="3267151"/>
            <a:ext cx="45720" cy="22402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7181" y="326136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D-9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3266084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开业前 9 个月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71216" y="3266084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运营模式定案：1＋2＋N；伙伴招采启动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266084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管理层拍板 ＋ 运营管理部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266084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招采文件（含四项条款）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7181" y="3477463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5741" y="3506724"/>
            <a:ext cx="45720" cy="22402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7181" y="350093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D-8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72768" y="3505657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开业前 8 个月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71216" y="3505657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《84 层内部使用管理办法》三方会签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3505657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集团行政 ＋ 财务 ＋ 合规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3505657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管理办法定稿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7181" y="3717036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7181" y="3740505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D-6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72768" y="3745230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开业前 6 个月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71216" y="3745230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客源走访启动：楼内企业与集团条线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3745230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运营管理部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3745230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走访记录 · 年度需求日历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7181" y="3956608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75741" y="3985869"/>
            <a:ext cx="45720" cy="22402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7181" y="398007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D-4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72768" y="3984802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开业前 4 个月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71216" y="3984802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交付《岗位说明书与排班规则》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0" y="3984802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运营管理部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2600" y="3984802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文件 ＋ 签字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7181" y="4196181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75741" y="4225442"/>
            <a:ext cx="45720" cy="22402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7181" y="421965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D-3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72768" y="4224375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开业前 3 个月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71216" y="4224375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交付《服务标准手册》《产品与价格手册》《活动执行手册》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0" y="4224375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运营管理部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72600" y="4224375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三份文件 ＋ 签字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7181" y="4435754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7181" y="44592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D-2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72768" y="4463948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开业前 2 个月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71216" y="4463948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人员招聘与培训 · 供应商定标 · 物料首单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0880" y="446394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运营管理部 ＋ 采购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72600" y="4463948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在岗受训名单 · 定标结果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7181" y="4675327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75741" y="4704588"/>
            <a:ext cx="45720" cy="22402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7181" y="469879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D-1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72768" y="4703521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开业前 1 个月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71216" y="4703521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交付《运营管理办法与指标表》；预售首月档期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40880" y="4703521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运营管理部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72600" y="4703521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指标表 ＋ 首月预约清单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7181" y="4914900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7181" y="4938369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72768" y="4943094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71216" y="4943094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限定客群开放：楼内租户与集团条线优先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40880" y="4943094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运营管理部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72600" y="4943094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首月接待单与档期记录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7181" y="5154472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5741" y="5183733"/>
            <a:ext cx="45720" cy="22402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7181" y="517794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D+2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72768" y="5182666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开业第 8 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71216" y="5182666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第一次财务测算校准（用真实客流与场次重算）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40880" y="518266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运营管理部 ＋ 财务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72600" y="5182666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第二版可对账测算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7181" y="5394045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67181" y="5417515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D+3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72768" y="5422239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开业 3 个月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871216" y="5422239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全客群开放；月度档期会与三色周历进入常态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040880" y="5422239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运营管理部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72600" y="5422239"/>
            <a:ext cx="2046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月度档期纪要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67181" y="5633618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67181" y="5797296"/>
            <a:ext cx="10651845" cy="292608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67181" y="5797296"/>
            <a:ext cx="25603" cy="29260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32688" y="5873953"/>
            <a:ext cx="10332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三条硬时间窗：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① 运营提资必须在图纸深化结束前下发；② 内部使用管理办法是开业前置条件，不是开业后再谈；③ 团队不晚于开业前 12 个月定人，否则六份文件与客源走访均无人承接。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运营节奏与阶段性发展规划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运营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这二十件事</a:t>
            </a: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，必须在图纸深化结束前提出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这不是设计意见，是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运营能不能落地的前置条件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。每一条都对应一笔「现在提是设计变更、开业后提是拆改」的成本。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7181" y="2011680"/>
            <a:ext cx="2551176" cy="2926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7181" y="218450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181" y="2339035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空间与家具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181" y="2801569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25—30 ㎡ 独立储藏间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81" y="2989173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存放一百余把椅子与折叠桌。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181" y="3423361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壁炉区可预约独占的围合条件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181" y="3610965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半围合与视线遮挡。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" y="4045153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签到台固定落位（品牌墙前）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" y="4232757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活动日的第一触点。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" y="4666945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家具需可堆叠、可移动、可过货梯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" y="4854549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翻场靠人力推。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" y="5288737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吧台后场与出品动线宽度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" y="5476341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出杯与补台需双人错身。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64661" y="2011680"/>
            <a:ext cx="2551176" cy="29260"/>
          </a:xfrm>
          <a:prstGeom prst="rect">
            <a:avLst/>
          </a:prstGeom>
          <a:solidFill>
            <a:srgbClr val="C9976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4661" y="218450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4661" y="2339035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机电与弱电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4661" y="2801569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灯光分区与场景调光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4661" y="2989173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五个时段五套场景。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4661" y="3423361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背景音乐分区与独立音量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4661" y="3610965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洽谈区与活动区互不干扰。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4661" y="4045153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路演厅电动遮光帘与分区控制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4661" y="4232757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四面景观是卖点也是坑。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4661" y="4666945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签到台与茶歇台电源、网络点位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4661" y="4854549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固定落位供电。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4661" y="5288737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吧台设备配电总量与排风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64661" y="5476341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咖啡机、制冰机、烤箱同时工作。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2141" y="2011680"/>
            <a:ext cx="2551176" cy="29260"/>
          </a:xfrm>
          <a:prstGeom prst="rect">
            <a:avLst/>
          </a:prstGeom>
          <a:solidFill>
            <a:srgbClr val="9BB6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2141" y="218450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2141" y="2339035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后勤与食安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2141" y="2801569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净水与直饮水点位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2141" y="2989173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出品水质决定风味稳定性。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2141" y="3423361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冷藏与留样冷藏空间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2141" y="3610965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乳制品与餐点存放、留样合规。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2141" y="4045153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垃圾暂存与清运动线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62141" y="4232757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不得穿越客区。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62141" y="4666945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布草与耗材存放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2141" y="4854549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桌布、杯具、备品需就近取用。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62141" y="5288737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货梯使用时间窗与轿厢尺寸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62141" y="5476341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所有搭建物料按此模块化。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59621" y="2011680"/>
            <a:ext cx="2551176" cy="29260"/>
          </a:xfrm>
          <a:prstGeom prst="rect">
            <a:avLst/>
          </a:prstGeom>
          <a:solidFill>
            <a:srgbClr val="3E5A7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59621" y="218450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9621" y="2339035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合规与机制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59621" y="2801569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路演厅疏散校核与容量上限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59621" y="2989173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GB 50016 对多功能厅另有要求。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59621" y="3423361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食品经营相关许可路径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59621" y="3610965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出品范围决定许可类型。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59621" y="4045153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夜间与周末空调加时费率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59621" y="4232757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向物业取价 —— 直接影响能耗测算。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59621" y="4666945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《84F 访客接待联动机制备忘录》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59621" y="4886553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与物业约定名单前置、VIP 通道、活动电梯保障、停梯通报。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59621" y="5288737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《84 层内部使用管理办法》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59621" y="5476341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与集团行政、财务、合规确认预约入口与结算口径。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7181" y="5870448"/>
            <a:ext cx="10651845" cy="274320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7181" y="5870448"/>
            <a:ext cx="25603" cy="27432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" y="5933389"/>
            <a:ext cx="10332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这二十条应作为《运营提资清单》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正式下发设计团队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，并指定运营管理部参加设计交底。这一条有明确的时间窗，过期无法补救。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未来价值与空间联动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我们只运营两块空间，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但抬起来的是整层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827428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约 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5376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5143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决 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82742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1,422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215143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7004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我们负责运营的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咖啡厅 ＋ 路演厅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05736"/>
            <a:ext cx="33723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687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整层的接待能力上限，不取决于面积最大的那块，而取决于</a:t>
            </a: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客户实际停留、被服务、被记住的那两块。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7181" y="3017520"/>
            <a:ext cx="3310128" cy="2926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7181" y="3070555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对 84 层其他区域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" y="3423361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让邻居的空间更好用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" y="3734257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接待能力外溢 —— 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短期办公区的用户与来访客户，共享同一套迎宾、接待与餐饮服务，不必各自配备前台。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" y="4447489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活动承接能力 —— 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短期办公用户如需开会或办小型活动，路演厅即为其现成的场地，无需外出。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" y="516072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整层第一印象 —— 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访客对 84 层的印象由前厅与咖啡厅决定，它替整层做了形象背书。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8711" y="3017520"/>
            <a:ext cx="3310128" cy="29260"/>
          </a:xfrm>
          <a:prstGeom prst="rect">
            <a:avLst/>
          </a:prstGeom>
          <a:solidFill>
            <a:srgbClr val="C9976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8711" y="3070555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对整栋楼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711" y="3423361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让招商与租户服务更有底气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8711" y="3734257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招商话术 —— 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84 层可作为高区租户的共享会客与活动配套，写进招商方案，是可感知的差异化。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711" y="4447489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带看动线 —— 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路演厅日常模式可作为招商带看的样板点位，把「空间讲解」变成「场景体验」。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8711" y="516072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租户服务 —— 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楼内企业办活动不必外出找场地，这是续租谈判时很实在的一条。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72983" y="3017520"/>
            <a:ext cx="3310128" cy="29260"/>
          </a:xfrm>
          <a:prstGeom prst="rect">
            <a:avLst/>
          </a:prstGeom>
          <a:solidFill>
            <a:srgbClr val="3E5A7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72983" y="3070555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对集团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72983" y="3423361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让客户经营多一个可控主场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2983" y="3734257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客户经营 —— 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集团各条线的高端客户答谢、机构接待与产品沟通，有了一个位于 CBD 核心、自己可控的场地。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2983" y="4447489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品牌呈现 —— 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对外活动在 84 层举办，场所本身即品牌表达，无需另做场地包装。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2983" y="516072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成本口径 —— 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内部使用走内部结算口径，比在外部场地采购更可控、更合规。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181" y="5983681"/>
            <a:ext cx="1065184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这三项价值不进损益表，但决定 84 层在集团内部的战略定位——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也是这门生意在账面亏损期仍然值得做的理由。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未来价值与空间联动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这栋楼的垂直配套链上，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只差 84 层这一环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从地铁直连的商场，到首层大堂、高区办公，再到顶部的观光层与餐饮、南塔的酒店宴会——这条链已经很完整，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唯独缺一个位于高区办公动线上、面向商务关系的会客与发布场。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181" y="205374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垂 直 配 套 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" y="232242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117—118F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0588" y="231114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顶层餐饮与宴会厅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0588" y="2528316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高空正餐与宴请，多用于晚间与重要接待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81" y="284180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116F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0588" y="2830525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云际观光层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0588" y="3047695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票务型观光与大型展览活动，面向公众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" y="337489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85—112F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0588" y="336362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高区办公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0588" y="358079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含集团总部与第三方租户，日常在此办公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" y="392079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84F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0588" y="3909517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咖啡厅与路演厅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4036" y="399242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本项目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0588" y="4126687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A5A2E"/>
                </a:solidFill>
                <a:latin typeface="Arial"/>
                <a:ea typeface="PingFang SC"/>
                <a:cs typeface="Arial"/>
              </a:rPr>
              <a:t>关系型商务会客与发布场——链条上唯一尚未被运营起来的节点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" y="4480407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1—83F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0588" y="446913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首层大堂与中低区办公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0588" y="468630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到达与换乘，客户体验的前五分钟发生在这里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81" y="500161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B1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0588" y="499033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商场与地铁直连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0588" y="520750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地铁 1/3 号线购物公园站 D2 出口，无风雨到达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" y="552099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南塔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0588" y="5509717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酒店与会议宴会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0588" y="5726887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住宿与大型宴会承接，可与 84 层活动组合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205374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联 动 方 案   ·   一 场 活 动 的 全 天 动 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235991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14:00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1092" y="235991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84F 咖啡厅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8866" y="2376525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咖啡厅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9403" y="2359914"/>
            <a:ext cx="3849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嘉宾抵达、签到迎宾、会前茶叙与非正式交流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280339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15:00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1092" y="280339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84F 路演厅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8866" y="2820009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路演厅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9403" y="2803398"/>
            <a:ext cx="3849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正式议程：发布或路演，含设备保障与全程协调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324779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16:30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1092" y="324779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84F 咖啡厅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28866" y="326440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咖啡厅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9403" y="3247796"/>
            <a:ext cx="3849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茶歇与会后商务交流——成交概率最高的一小时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3693109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17:30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1092" y="3693109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116F 观光层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75094" y="370972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楼内资源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9403" y="3693109"/>
            <a:ext cx="3849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重要嘉宾登高观景，作为活动的记忆点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4136593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18:30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1092" y="4136593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117—118F 餐饮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3777" y="4153204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楼内资源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69403" y="4136593"/>
            <a:ext cx="3849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高空晚宴，承接活动后的正式宴请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458190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当晚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51092" y="458190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南塔酒店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2412" y="4598517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楼内资源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69403" y="4581906"/>
            <a:ext cx="3849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99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外地嘉宾住宿，形成完整接待闭环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3308" y="5278831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这 对 我 们 意 味 着 什 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3308" y="5492496"/>
            <a:ext cx="552571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3813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上面这条组合动线里，</a:t>
            </a:r>
            <a:r>
              <a:rPr sz="8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前三段由我们直接交付，后三段由楼内既有资源承接</a:t>
            </a: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。我们不需要自己建观光层和酒店，但可以成为这条链的</a:t>
            </a:r>
            <a:r>
              <a:rPr sz="8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入口与串联者</a:t>
            </a: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——客户找的是「在平安金融中心办一场活动」，而这件事的第一通电话，应该想到 84 层。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18320" y="-46939"/>
            <a:ext cx="200253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267629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60">
                <a:solidFill>
                  <a:srgbClr val="754525"/>
                </a:solidFill>
                <a:latin typeface="Arial"/>
                <a:ea typeface="PingFang SC"/>
                <a:cs typeface="Arial"/>
              </a:rPr>
              <a:t>S E C T I O N 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177" y="2903067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 spc="20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财务测算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695" y="377906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7B88"/>
                </a:solidFill>
                <a:latin typeface="Arial"/>
                <a:ea typeface="PingFang SC"/>
                <a:cs typeface="Arial"/>
              </a:rPr>
              <a:t>真实测算数据 · 以及它告诉我们的事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7088" y="435025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0903" y="4317187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五年收益测算与盈亏平衡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4375251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37–43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7088" y="4638751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7088" y="476813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0903" y="4735067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8F95"/>
                </a:solidFill>
                <a:latin typeface="Arial"/>
                <a:ea typeface="PingFang SC"/>
                <a:cs typeface="Arial"/>
              </a:rPr>
              <a:t>仍待确认的数据与决策事项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4793132"/>
            <a:ext cx="8119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44–45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7088" y="5056631"/>
            <a:ext cx="3621938" cy="6350"/>
          </a:xfrm>
          <a:prstGeom prst="rect">
            <a:avLst/>
          </a:prstGeom>
          <a:solidFill>
            <a:srgbClr val="26344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" y="6385102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5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五年收益测算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五年测算已经做完，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结论是五年都亏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按现行口径，年营业收入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2,373,504 元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保持不变，营业支出从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2,557,193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元逐年升至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2,783,130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元，五年累计亏损 </a:t>
            </a:r>
            <a:r>
              <a:rPr sz="10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1,558,349 元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。这是测算表的原始结论，先把它摆在这里，再谈怎么改。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181" y="2066543"/>
            <a:ext cx="10651845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7181" y="220278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项 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0278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第一年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0278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第二年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20278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第三年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0278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第四年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20278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第五年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67544" y="2202789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五年合计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" y="243580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一、营业收入（不含税）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43580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2,373,504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43580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2,373,504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43580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2,373,504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43580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2,373,504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43580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2,373,504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7544" y="2435809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11,867,520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" y="271012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收入构成 · 咖啡茶点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271012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792,000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271012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792,000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71012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792,000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71012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792,000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710129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792,000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67544" y="2710129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3,960,000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" y="294970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收入构成 · 路演厅租赁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2949702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1,440,000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949702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1,440,000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949702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1,440,000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949702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1,440,000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949702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1,440,000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67544" y="2949702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7,200,000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85" y="318927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收入构成 · 中式茶室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3189274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141,504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3189274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141,504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3189274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141,504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3189274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141,504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189274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141,504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544" y="3189274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707,520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7181" y="3471062"/>
            <a:ext cx="10651845" cy="762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7181" y="3520287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二、营业支出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3520287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2,557,193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3520287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2,639,458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3520287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2,724,376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3520287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2,721,712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520287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2,783,130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67544" y="3520287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13,425,869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3485" y="3794607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1. 人力成本（含奖金福利）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3794607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1,229,850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3794607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1,282,905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3794607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1,338,613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3794607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1,397,106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3794607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1,458,524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67544" y="3794607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6,706,998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485" y="403418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2. 物料成本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26080" y="4034180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671,746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034180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671,746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0720" y="4034180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671,746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78040" y="4034180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671,746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4034180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671,746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67544" y="4034180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3,358,730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3485" y="4273753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3. 能耗费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26080" y="4273753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450,000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43400" y="4273753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450,000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60720" y="4273753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450,000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78040" y="4273753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450,000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95360" y="4273753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450,000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67544" y="4273753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2,250,000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3485" y="451332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4. 维保费用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26080" y="4513326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87,630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43400" y="4513326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116,840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0720" y="4513326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146,050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78040" y="4513326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175,260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95360" y="4513326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175,260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67544" y="4513326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701,040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3485" y="475289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5. 附加税+财务费用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26080" y="4752898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20,600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43400" y="4752898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20,600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60720" y="4752898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20,600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78040" y="4752898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20,600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95360" y="4752898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20,600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67544" y="4752898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103,000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3485" y="4992471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6. 折旧摊销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26080" y="4992471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97,367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43400" y="4992471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97,367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60720" y="4992471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97,367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78040" y="4992471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7,000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95360" y="4992471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7,000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67544" y="4992471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306,101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7181" y="5292547"/>
            <a:ext cx="10651845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7181" y="53370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三、税后利润（PAT）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80" y="5337048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-183,689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43400" y="5337048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-265,954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60720" y="5337048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-350,872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78040" y="5337048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-348,208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95360" y="5337048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-409,626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67544" y="5337048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-1,558,349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7181" y="56160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　 利润率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926080" y="5616092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-7.7%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343400" y="5616092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-11.2%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60720" y="5616092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-14.8%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78040" y="5616092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-14.7%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95360" y="5616092"/>
            <a:ext cx="1307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-17.3%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67544" y="5616092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-13.1%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7181" y="5933541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数据来源：《84层咖啡厅&amp;路演厅5年收益测算》· 本页所有数字均取自该表或由该表直接计算（单位：元）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7181" y="6107277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测算表备注：场地由项目提供，无租金与管理费支出；初始设备投入 </a:t>
            </a:r>
            <a:r>
              <a:rPr sz="6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292,100 元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，按周期计提折旧，第四年起仅小额资产更新。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五年收益测算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六成收入来自路演厅，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咖啡厅不是利润中心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这张结构图印证了第 11 页的判断：咖啡厅的价值在接待与关系，不在单杯毛利。全年收入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2,373,504 元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中，路演厅租赁占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60.7%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，是真正的收入主体。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" y="1891893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收 入 结 构   ·   年 度 口 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181" y="215676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路演厅租赁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15676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1,440,000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56764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60.7%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7181" y="2432304"/>
            <a:ext cx="2551917" cy="18288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7181" y="2678277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测算依据： 12 万元/月 × 12 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" y="296143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咖啡茶点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9614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792,000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61436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33.4%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7181" y="3236976"/>
            <a:ext cx="1403554" cy="182880"/>
          </a:xfrm>
          <a:prstGeom prst="rect">
            <a:avLst/>
          </a:prstGeom>
          <a:solidFill>
            <a:srgbClr val="E8A5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" y="3482949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测算依据： 3,000 元/天 × 264 个营业日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" y="376610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中式茶室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7661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141,504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766108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6.0%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7181" y="4041648"/>
            <a:ext cx="250768" cy="182880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181" y="4287621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测算依据： 11,792 元/月 × 12 个月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7181" y="4498848"/>
            <a:ext cx="4206240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7181" y="46073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合计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60735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2,373,504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607356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7181" y="4882896"/>
            <a:ext cx="4206240" cy="1042415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7181" y="4882896"/>
            <a:ext cx="25603" cy="1042415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" y="5065776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两 处 需 要 对 齐 的 口 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925" y="5303520"/>
            <a:ext cx="3730752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一、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测算表备注写「茶室 1.2 万/月」，实际取数为 11,792 元/月（全年 141,504 元），差 2,496 元/年；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二、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 792,000 ÷ 3,000 = 264 天，为工作日口径，与第 20 页营业时间一致；周末是否营业需明确。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4919472"/>
            <a:ext cx="566928" cy="160020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6259" y="4943398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待确认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1891893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单 位 经 济 对 照   ·   敏 感 性 测 算 ， 非 实 测 数 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44784" y="1901952"/>
            <a:ext cx="576072" cy="160020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95076" y="1925878"/>
            <a:ext cx="5760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待测算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2124913"/>
            <a:ext cx="602406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测算表只给了「日均 3,000 元」和「12 万/月」两个总量，没有拆出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客单价、客流量与场次单价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。下表把总量按不同假设拆开，用来校准我们的定价带与承接目标——这是假设，不是实测。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2673553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咖啡厅：客单价 × 日均单量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2678277"/>
            <a:ext cx="29151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固定：日均 3,000 元 × 264 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2907792"/>
            <a:ext cx="6024067" cy="762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0" y="302102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30 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319476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100 单/天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337322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26,400 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02102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35 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19476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86 单/天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37322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22,629 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302102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40 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319476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75 单/天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337322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19,800 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02102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45 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319476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67 单/天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337322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17,600 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302102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50 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319476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60 单/天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337322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15,840 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302102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60 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319476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50 单/天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337322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13,200 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610965"/>
            <a:ext cx="60240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咖啡厅 525 ㎡ 的座位数尚未确定（需竣工测绘与家具排布），因此暂无法反推翻台率与座位产能。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4960" y="3972001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路演厅：单场价格 × 月场次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3976725"/>
            <a:ext cx="29151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固定：12 万元/月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94960" y="4206240"/>
            <a:ext cx="6024067" cy="762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4960" y="431947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5,000 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94960" y="449320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24 场/月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4960" y="4671669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288 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31947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8,000 元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449320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15 场/月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4671669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180 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06640" y="431947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10,000 元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06640" y="449320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12 场/月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06640" y="4671669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144 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80" y="431947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12,000 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449320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10 场/月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12480" y="4671669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120 场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18320" y="431947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15,000 元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18320" y="449320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8 场/月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18320" y="4671669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96 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24160" y="431947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20,000 元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24160" y="449320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 场/月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24160" y="4671669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年 72 场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4960" y="4909413"/>
            <a:ext cx="60240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155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按第 14 页六条产品线的分档报价，实际会是若干档混合。</a:t>
            </a:r>
            <a:r>
              <a:rPr sz="6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若取 10,000 元/场，全年需 144 场；按 264 个工作日算，相当于档期使用率约 55%</a:t>
            </a: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——这是判断「12 万/月是否保守」的第一把尺子。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94960" y="5384901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空 间 利 用 率 口 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94960" y="5581345"/>
            <a:ext cx="60240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本次运营面积 = 咖啡厅 525 ㎡ ＋ 路演厅 375 ㎡ =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约 900 ㎡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，占 84 层装修面积 1,422 ㎡ 的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63.3%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；短期办公区 600 ㎡ 不在本次范围内。按 900 ㎡ 计，年营业收入对应坪效约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2,637 元/㎡·年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（合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220 元/㎡·月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），可与莱坊口径的福田中心区甲级写字楼租金 168.3 元/㎡·月 对照参考。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五年收益测算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成本里有四项是刚性的，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只有两项真正可谈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第一年营业支出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2,557,193 元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，其中人力、物料、能耗三项合计占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92.0%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。要改变结论，要么在这三项上动刀，要么把收入做上去。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" y="1891893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 一 年 支 出 结 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7181" y="2103120"/>
            <a:ext cx="5303520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" y="2230221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支出项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3022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第一年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23022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占比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230221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刚性判断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" y="248594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人力成本（含奖金福利）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48594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1,229,850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248594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48.1%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490673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刚性 · 决定服务水准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7181" y="2747772"/>
            <a:ext cx="2550661" cy="118872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7181" y="299801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物料成本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99801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671,746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299801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26.3%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002737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半刚性 · 随出品量浮动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7181" y="3259836"/>
            <a:ext cx="1393175" cy="118872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181" y="35100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能耗费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5100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450,000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351007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17.6%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3514801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可谈 · 取决于物业费率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7181" y="3771900"/>
            <a:ext cx="933282" cy="118872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7181" y="40221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维保费用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0221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87,630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8768" y="402214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3.4%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4" y="4026865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刚性 · 逐年递增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7181" y="4283964"/>
            <a:ext cx="181741" cy="118872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" y="453420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附加税+财务费用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453420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20,600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45342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0.8%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5424" y="4538929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刚性 · 随收入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7181" y="4796028"/>
            <a:ext cx="42723" cy="118872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7181" y="504626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折旧摊销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0462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97,367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58768" y="504626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3.8%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5424" y="5050993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已定 · 非现金支出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7181" y="5308092"/>
            <a:ext cx="201935" cy="118872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7181" y="5504688"/>
            <a:ext cx="5303520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7181" y="561319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营业支出合计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561319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2,557,193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58768" y="561319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1891893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五 年 里 ， 是 什 么 把 支 出 推 上 去 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2103120"/>
            <a:ext cx="4926787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2230221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支出项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01583" y="2230221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Y1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2230221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Y3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0656" y="2230221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Y5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44200" y="2230221"/>
            <a:ext cx="6748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五年变化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49067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人力成本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1583" y="249067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1,229,850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249067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1,338,613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0656" y="249067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1,458,524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44200" y="2490673"/>
            <a:ext cx="6748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＋228,674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92240" y="2807208"/>
            <a:ext cx="492678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2874721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物料成本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1583" y="2874721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671,746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2874721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671,746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0656" y="2874721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671,746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44200" y="2874721"/>
            <a:ext cx="6748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持平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92240" y="3191256"/>
            <a:ext cx="492678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2240" y="325876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能耗费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01583" y="325876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450,000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325876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450,000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20656" y="325876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450,000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44200" y="3258769"/>
            <a:ext cx="6748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持平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92240" y="3575303"/>
            <a:ext cx="492678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92240" y="3642817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维保费用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01583" y="3642817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87,630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1120" y="3642817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146,050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20656" y="3642817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175,260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44200" y="3642817"/>
            <a:ext cx="6748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＋87,630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92240" y="3959351"/>
            <a:ext cx="492678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92240" y="4026865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附加税+财务费用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01583" y="4026865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20,600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61120" y="4026865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20,600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20656" y="4026865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20,600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744200" y="4026865"/>
            <a:ext cx="6748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持平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92240" y="4343399"/>
            <a:ext cx="492678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92240" y="441091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折旧摊销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01583" y="441091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97,367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61120" y="441091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97,367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20656" y="441091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7,000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44200" y="4410913"/>
            <a:ext cx="6748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-90,367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92240" y="4727447"/>
            <a:ext cx="492678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92240" y="4849825"/>
            <a:ext cx="49267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五年里支出净增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225,937 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，几乎全部来自人力（＋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228,674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）与维保（＋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87,630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），折旧在第四年退坡（−90,367）部分抵消。收入端却是五年不变——这是亏损逐年扩大的直接原因。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92240" y="5431536"/>
            <a:ext cx="4926787" cy="786384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92240" y="5431536"/>
            <a:ext cx="25603" cy="786384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729983" y="5614416"/>
            <a:ext cx="44695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两 项 真 正 可 谈 的 支 出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29983" y="5852160"/>
            <a:ext cx="44512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能耗费 450,000 元/年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（占 17.6%）取决于物业费率与夜间/周末空调加时价格，须正式函调；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物料成本 671,746 元/年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（占 26.3%）取决于出品结构与损耗率，可通过配方卡与备料机制压缩。这两项是短期内最现实的成本改善空间。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五年收益测算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第一年只差 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7.7%</a:t>
            </a: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，第五年要差 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17.3%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把「亏损」换算成「还差多少收入」，问题会具体很多：第一年缺口 </a:t>
            </a:r>
            <a:r>
              <a:rPr sz="10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183,689 元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，相当于营业收入提高 </a:t>
            </a:r>
            <a:r>
              <a:rPr sz="10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7.74%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。缺口逐年扩大，是因为支出涨、收入不涨。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" y="1891893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逐 年 缺 口 与 盈 亏 平 衡 所 需 营 业 收 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7181" y="2103120"/>
            <a:ext cx="5303520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" y="2230221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年度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3022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营业收入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23022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营业支出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3022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230221"/>
            <a:ext cx="53858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需增收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" y="250423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第一年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5042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2,373,504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5042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2,557,193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5042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183,689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555748"/>
            <a:ext cx="267341" cy="132588"/>
          </a:xfrm>
          <a:prstGeom prst="rect">
            <a:avLst/>
          </a:prstGeom>
          <a:solidFill>
            <a:srgbClr val="F0A4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2504236"/>
            <a:ext cx="53858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＋7.74%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181" y="2852927"/>
            <a:ext cx="530352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" y="294314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第二年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9431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2,373,504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29431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2,639,458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94314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265,954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994660"/>
            <a:ext cx="387069" cy="132588"/>
          </a:xfrm>
          <a:prstGeom prst="rect">
            <a:avLst/>
          </a:prstGeom>
          <a:solidFill>
            <a:srgbClr val="F0A4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2943148"/>
            <a:ext cx="53858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＋11.21%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7181" y="3291839"/>
            <a:ext cx="530352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7181" y="338206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第三年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338206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2,373,504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338206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2,724,376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3820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350,872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3433572"/>
            <a:ext cx="510659" cy="132588"/>
          </a:xfrm>
          <a:prstGeom prst="rect">
            <a:avLst/>
          </a:prstGeom>
          <a:solidFill>
            <a:srgbClr val="F0A4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2120" y="3382060"/>
            <a:ext cx="53858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＋14.78%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7181" y="3730752"/>
            <a:ext cx="530352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7181" y="38209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第四年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38209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2,373,504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38209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2,721,712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8209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348,208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872483"/>
            <a:ext cx="506782" cy="132588"/>
          </a:xfrm>
          <a:prstGeom prst="rect">
            <a:avLst/>
          </a:prstGeom>
          <a:solidFill>
            <a:srgbClr val="F0A4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3820972"/>
            <a:ext cx="53858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＋14.67%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7181" y="4169663"/>
            <a:ext cx="530352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7181" y="425988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第五年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425988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2,373,504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425988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2,783,130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0" y="42598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409,626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311395"/>
            <a:ext cx="596170" cy="132588"/>
          </a:xfrm>
          <a:prstGeom prst="rect">
            <a:avLst/>
          </a:prstGeom>
          <a:solidFill>
            <a:srgbClr val="F0A4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32120" y="4259884"/>
            <a:ext cx="53858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＋17.26%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7181" y="4608575"/>
            <a:ext cx="530352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67181" y="4882896"/>
            <a:ext cx="5303520" cy="1042415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7181" y="4882896"/>
            <a:ext cx="25603" cy="1042415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925" y="506577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为 什 么 缺 口 会 越 来 越 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4925" y="5303520"/>
            <a:ext cx="4828031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收入端五年完全不变（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2,373,504 元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），支出端逐年递增（人力 ＋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4.31%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/年、维保逐年上台阶）。若运营正常，收入不应五年不变——把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收入增长写进测算</a:t>
            </a: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，是这份表下一版最该补的一件事。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1891893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补 平 第 一 年 缺 口 的 四 条 杠 杆   ·   单 变 量 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2103120"/>
            <a:ext cx="4926787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92240" y="2377440"/>
            <a:ext cx="25603" cy="65836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38544" y="2362657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23442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提高路演厅档期收入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2367381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最可行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2591257"/>
            <a:ext cx="44695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月租赁收入从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120,000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提至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135,307 元/月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（＋12.8%）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2788005"/>
            <a:ext cx="44695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按 10,000 元/场估算，全年多约 18 场；对应第 15 页「填谷九条」。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3182112"/>
            <a:ext cx="25603" cy="658368"/>
          </a:xfrm>
          <a:prstGeom prst="rect">
            <a:avLst/>
          </a:prstGeom>
          <a:solidFill>
            <a:srgbClr val="E8A5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38544" y="3167329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314888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提高咖啡厅日均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3172053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较难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3395929"/>
            <a:ext cx="44695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日均从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3,000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提至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3,696 元/天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（＋23.2%）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49440" y="3592677"/>
            <a:ext cx="44695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需客流或客单价提升两成以上，受座位数与营业时段限制。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3986784"/>
            <a:ext cx="25603" cy="658368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38544" y="397200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395356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压缩能耗费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41280" y="3976725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取决于物业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0" y="4200601"/>
            <a:ext cx="44695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能耗从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450,000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降至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266,311 元/年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（−40.8%）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397349"/>
            <a:ext cx="44695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幅度过大，单靠此项不现实；但费率函调仍应尽快启动。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92240" y="4791456"/>
            <a:ext cx="25603" cy="658368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38544" y="4776673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9440" y="475823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压缩人力成本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4781397"/>
            <a:ext cx="11777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不建议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49440" y="5005273"/>
            <a:ext cx="44695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人力从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1,229,850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降至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1,046,161 元/年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（−14.9%）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49440" y="5202021"/>
            <a:ext cx="44695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相当于砍掉约 1.5 个固定岗，接待岗必然失守（见第 27 页）。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92240" y="5672785"/>
            <a:ext cx="49267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结论：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四条杠杆里只有 A 的幅度是现实的。这也解释了为什么第 15 页要用整整一页讲「填谷」——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路演厅的档期使用率，就是这个项目的财务生死线。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五年收益测算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三档情景都算过：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只有进取档第一年能转正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下面三档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只调整两个已知总量口径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——路演厅月收入与咖啡日均，成本端一律沿用测算表原值，不做任何假设性削减。</a:t>
            </a:r>
            <a:r>
              <a:rPr sz="10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这是情景推演，不是新的测算数据；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真实区间要等四组数据到位后重算。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181" y="1920240"/>
            <a:ext cx="10651845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7181" y="204734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情 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047341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第一年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2047341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第二年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2704" y="2047341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第三年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5" y="2047341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第四年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047341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第五年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2047341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五年累计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53344" y="2047341"/>
            <a:ext cx="6656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转正年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7181" y="2350008"/>
            <a:ext cx="45720" cy="457200"/>
          </a:xfrm>
          <a:prstGeom prst="rect">
            <a:avLst/>
          </a:prstGeom>
          <a:solidFill>
            <a:srgbClr val="C9CF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" y="233492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保守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" y="2573121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路演厅 −15% · 咖啡 −15%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367076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-518,489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2367076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-600,754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2704" y="2367076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-685,672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5" y="2367076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-683,008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367076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-744,426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367076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-3,232,349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53344" y="2367076"/>
            <a:ext cx="6656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" y="2756001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年营业收入 2,038,704 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7181" y="2944368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7181" y="3063240"/>
            <a:ext cx="45720" cy="45720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" y="304815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基准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" y="3286353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测算表原值，未做任何调整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3080308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-183,689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1" y="3080308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-265,954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2704" y="3080308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-350,872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94575" y="3080308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-348,208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3080308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-409,626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28048" y="3080308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-1,558,349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53344" y="3080308"/>
            <a:ext cx="6656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485" y="3469233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年营业收入 2,373,504 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7181" y="3657600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7181" y="3776472"/>
            <a:ext cx="45720" cy="457200"/>
          </a:xfrm>
          <a:prstGeom prst="rect">
            <a:avLst/>
          </a:prstGeom>
          <a:solidFill>
            <a:srgbClr val="7E9DB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3485" y="376138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进取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" y="3999585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路演厅 +20% · 咖啡 +10%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3793540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183,511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1" y="3793540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101,246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32704" y="3793540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16,328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94575" y="3793540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18,992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56448" y="3793540"/>
            <a:ext cx="1170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-42,426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8048" y="379354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277,651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53344" y="3793540"/>
            <a:ext cx="6656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第 1 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485" y="4182465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年营业收入 2,740,704 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7181" y="4370832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7181" y="4635093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这 张 表 告 诉 我 们 三 件 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7181" y="48911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2941" y="48679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保守档是真正的风险边界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7181" y="5142433"/>
            <a:ext cx="34564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路演厅和咖啡各退 15%，五年累计亏损从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1,558,349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扩大到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3,232,349 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，翻了一倍多。这就是为什么档期使用率必须设成硬考核指标。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5968" y="48911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1728" y="48679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进取档第一年就能转正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5968" y="5142433"/>
            <a:ext cx="34564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路演厅 +20%（月收入 144,000 元）、咖啡 +10%（日均 3,300 元），第一年即盈利 </a:t>
            </a:r>
            <a:r>
              <a:rPr sz="7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183,511 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，五年累计 </a:t>
            </a:r>
            <a:r>
              <a:rPr sz="700" b="1">
                <a:solidFill>
                  <a:srgbClr val="3E5A73"/>
                </a:solidFill>
                <a:latin typeface="Arial"/>
                <a:ea typeface="PingFang SC"/>
                <a:cs typeface="Arial"/>
              </a:rPr>
              <a:t>＋277,651 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。这个幅度比第 40 页杠杆 A 所需的 +12.8% 更进一步，但同属可努力范围。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48911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48679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但进取档到第五年又会掉回负数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5142433"/>
            <a:ext cx="34564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因为成本逐年涨而收入档位不变，进取档第五年仍是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−42,426 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。要让五年全部为正，收入需在进取档基础上再保持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年均约 0.4% 的温和增长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——幅度很小，但必须写进测算，否则这张表永远是「先好后坏」。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7181" y="6116421"/>
            <a:ext cx="1065184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情景口径：</a:t>
            </a: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仅按比例调整路演厅租赁与咖啡茶点两条收入线（中式茶室不变），成本六项全部沿用测算表原值；未假设成本优化、未计入活动执行服务费与增值服务两条尚未进表的收入线。因此进取档是保守口径下的进取。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五年收益测算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按现行测算，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回本周期不成立</a:t>
            </a: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——这句话必须说清楚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初始设备投入 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292,100 元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。但五年经营现金流（税后利润＋折旧摊销）每年都是负数，</a:t>
            </a:r>
            <a:r>
              <a:rPr sz="10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现金从未回正，因此不存在回本年限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。回避这一点，后面所有讨论都站不住。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" y="1891893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经 营 现 金 流 与 累 计 现 金 头 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7181" y="2103120"/>
            <a:ext cx="5577840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" y="2230221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期间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3022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税后利润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23022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＋折旧摊销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23022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经营现金流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230221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累计现金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" y="250423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T0 · 设备投入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5042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-292,100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504236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-292,100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7181" y="2852927"/>
            <a:ext cx="557784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7181" y="294314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第一年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29431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-183,689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9431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97,367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9431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-86,322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943148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-378,422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7181" y="3291839"/>
            <a:ext cx="557784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7181" y="33820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第二年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338206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-265,954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8206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97,367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38206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-168,587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382060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-547,009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7181" y="3730752"/>
            <a:ext cx="557784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7181" y="38209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第三年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38209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-350,872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8209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97,367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38209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-253,505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820972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-800,514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7181" y="4169663"/>
            <a:ext cx="557784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7181" y="425988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第四年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25988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-348,208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25988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425988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-341,208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4259884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-1,141,722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7181" y="4608575"/>
            <a:ext cx="557784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7181" y="469879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第五年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4519" y="46987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-409,626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46987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7,000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46987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-402,626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4698796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-1,544,348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7181" y="5047488"/>
            <a:ext cx="557784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7181" y="5174284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五年末累计现金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5160111"/>
            <a:ext cx="12618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-1,544,348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7181" y="5175504"/>
            <a:ext cx="5577840" cy="749808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7181" y="5175504"/>
            <a:ext cx="25603" cy="74980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925" y="5358384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40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口 径 说 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4925" y="5596128"/>
            <a:ext cx="5102352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经营现金流按「税后利润 ＋ 折旧摊销」估算（折旧为非现金支出）。测算表未单列所得税、利息与营运资金变动，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若补充这些科目，现金流会进一步走弱而非改善。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1891893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那 么 ， 这 个 项 目 还 值 不 值 得 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66560" y="2103120"/>
            <a:ext cx="4652467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60" y="236738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87184" y="2344216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亏损规模在可承受区间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87184" y="2609545"/>
            <a:ext cx="42245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五年累计亏损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1,558,349 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，年均约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311,670 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。对照福田中心区甲级写字楼租金 168.3 元/㎡·月，900 ㎡ 一年的市场租金约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1,817,640 元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——测算表已明确「场地由项目提供，无租金支出」，即这笔机会成本未计入。年均亏损约为该机会成本的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17%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3438144"/>
            <a:ext cx="46524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0" y="357438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87184" y="355122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亏损买到的是不进损益表的三项价值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87184" y="3816553"/>
            <a:ext cx="42245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楼宇招商价值、集团客户经营价值、品牌与传播价值（见第 34 页）。这三项是 84 层改造的真实目的，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但必须被计量，否则无法与账面亏损对冲。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66560" y="4645152"/>
            <a:ext cx="46524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60" y="478139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0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87184" y="4758232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但有一条底线必须守住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7184" y="5023561"/>
            <a:ext cx="42245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若路演厅档期使用率长期低于补平缺口所需水平（第一年约 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＋12.8%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），亏损会逐年扩大而非收敛。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建议把「开业第 8 周第一次财务校准」作为正式复核节点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，届时用真实客流与场次数据重算这张表。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66560" y="5852160"/>
            <a:ext cx="4652467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66560" y="5614416"/>
            <a:ext cx="4652467" cy="310896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12864" y="569092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0EEEA"/>
                </a:solidFill>
                <a:latin typeface="Arial"/>
                <a:ea typeface="PingFang SC"/>
                <a:cs typeface="Arial"/>
              </a:rPr>
              <a:t>结论：不是一门赚钱的生意，是一项有明确成本上限的能力建设。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五年收益测算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181" y="713232"/>
            <a:ext cx="10651845" cy="762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六个会让这张表失真的风险，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以及各自的对冲动作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" y="1340815"/>
            <a:ext cx="1060795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下表左侧是风险，右侧是已经写在本方案里的对应动作。没有对应动作的，一律标注</a:t>
            </a:r>
            <a:r>
              <a:rPr sz="10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待确认</a:t>
            </a: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181" y="1956816"/>
            <a:ext cx="10651845" cy="12700"/>
          </a:xfrm>
          <a:prstGeom prst="rect">
            <a:avLst/>
          </a:prstGeom>
          <a:solidFill>
            <a:srgbClr val="101A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7181" y="2083917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环节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083917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083917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影响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83917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83917"/>
            <a:ext cx="3189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本方案中的对冲动作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" y="2362657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收入端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5793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路演厅档期填不满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406700"/>
            <a:ext cx="384048" cy="169164"/>
          </a:xfrm>
          <a:prstGeom prst="rect">
            <a:avLst/>
          </a:prstGeom>
          <a:solidFill>
            <a:srgbClr val="F2C9A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95928" y="242879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362657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12 万/月是收入主体（60.7%）。若实际档期使用率低于测算隐含水平，收入缺口直接放大。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62657"/>
            <a:ext cx="31894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第 15 页三态运营与填谷九条；第 30 页六条常设管线；月度档期会 ＋ 三色周历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7181" y="2999232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7181" y="3039313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收入端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03458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咖啡日均 3,000 元达不到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083356"/>
            <a:ext cx="384048" cy="169164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95928" y="3105454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039313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264 个营业日的日均假设未经客流验证；84 层换乘客流基数尚未取得。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039313"/>
            <a:ext cx="31894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第 45 页第一组数据：函调物业闸机与梯控刷卡数据（最关键）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7181" y="3675888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181" y="3715969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成本端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371124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能耗与空调加时费率高于测算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3760012"/>
            <a:ext cx="384048" cy="169164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95928" y="378211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715969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450,000 元/年占支出 17.6%，夜间与周末空调加时费率尚未向物业取价。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715969"/>
            <a:ext cx="31894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第 33 页 D 组合规与机制：向物业正式取价并写入测算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7181" y="4352544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7181" y="4392625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成本端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43879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伙伴服务费/分成未计入人力成本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4436668"/>
            <a:ext cx="384048" cy="169164"/>
          </a:xfrm>
          <a:prstGeom prst="rect">
            <a:avLst/>
          </a:prstGeom>
          <a:solidFill>
            <a:srgbClr val="F2C9A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95928" y="4458766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4392625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若 1,229,850 元不含咖啡出品与活动执行伙伴的服务费，该笔支出需单列，缺口扩大。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392625"/>
            <a:ext cx="31894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待确认 —— 招采完成后确定分成比例，回写测算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828032"/>
            <a:ext cx="484632" cy="160020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892" y="4851958"/>
            <a:ext cx="484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待确认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7181" y="5029200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7181" y="506928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执行端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72768" y="506455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运营提资错过图纸深化窗口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31920" y="5113324"/>
            <a:ext cx="384048" cy="169164"/>
          </a:xfrm>
          <a:prstGeom prst="rect">
            <a:avLst/>
          </a:prstGeom>
          <a:solidFill>
            <a:srgbClr val="F2C9A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95928" y="513542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5069281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储藏间、电源点位、排风与灯控分区若未前置，开业后拆改成本极高，且影响出品与活动承接。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069281"/>
            <a:ext cx="31894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第 33 页二十件事作为《运营提资清单》正式下发设计院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7181" y="5705856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7181" y="5745937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机制端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72768" y="574121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集团内部使用的结算口径未定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0" y="5789980"/>
            <a:ext cx="384048" cy="169164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95928" y="581207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17720" y="5745937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内部接待占比越高，对外收入占比越低；若无内部结算口径，这部分服务量无法计入收入。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745937"/>
            <a:ext cx="31894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《84 层内部使用管理办法》—— 开业前置条件，非开业后再谈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7181" y="6382512"/>
            <a:ext cx="10651845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7181" y="6477457"/>
            <a:ext cx="1065184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敏感性提示：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收入端两条风险若同时发生（档期与客流均不达标），第一年缺口将从 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183,689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 元显著放大；成本端两条若同时发生，缺口同样扩大。具体区间需在取得四组真实数据后重算——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本页不做数字推演，避免用假设覆盖事实。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测算口径 · 已落数与待测算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四条收入线里已经落了三条，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活动执行与增值服务仍待测算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340815"/>
            <a:ext cx="106518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原方案这一页只有结构没有数字。现在把已经有真实测算的部分填进去，把仍然没有的保持空着并标注——</a:t>
            </a: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宁可空着，也不填一个没有依据的数。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181" y="188244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01　收入结构：四条线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" y="2229916"/>
            <a:ext cx="2551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场地使用收入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181" y="2471775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1,440,000 元/年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181" y="2819857"/>
            <a:ext cx="25511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= 年场次 待测算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× 分档场租 半日/全日/超时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× 档期使用率 待测算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81" y="3446373"/>
            <a:ext cx="2551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264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总量已落数（12 万/月），但场次 × 单价的拆分待测算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4661" y="2229916"/>
            <a:ext cx="2551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餐饮与茶歇收入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4661" y="2471775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933,504 元/年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4661" y="2819857"/>
            <a:ext cx="25511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= 活动到场人数 待测算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× 茶歇档位单价 三档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＋ 日常出品收入 已含在咖啡与茶室口径内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4661" y="3446373"/>
            <a:ext cx="2551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264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咖啡 792,000 ＋ 茶室 141,504，合计已落数；活动茶歇是否单独计价待确认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2141" y="2229916"/>
            <a:ext cx="2551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活动执行服务费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2141" y="2487168"/>
            <a:ext cx="1207008" cy="201168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5293" y="2522677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本次测算未包含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2141" y="2819857"/>
            <a:ext cx="25511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= 场次 待测算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× 服务包价 基础 / 标准 / 全案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2141" y="3446373"/>
            <a:ext cx="2551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264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测算表未单列此项收入 —— 需确认是否已含在场地收入中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9621" y="2229916"/>
            <a:ext cx="2551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增值服务收入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59621" y="2487168"/>
            <a:ext cx="1207008" cy="201168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2773" y="2522677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本次测算未包含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9621" y="2819857"/>
            <a:ext cx="25511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= 直播与摄录 待测算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＋ 物料制作 待测算</a:t>
            </a:r>
          </a:p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＋ 礼宾与定制 待测算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9621" y="3446373"/>
            <a:ext cx="25511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264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测算表未包含 —— 本条收入线尚未进入五年测算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81" y="400385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02　成本结构：五项，全部已落数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" y="4333036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人力成本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181" y="4579620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1,229,850 元/年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81" y="4891125"/>
            <a:ext cx="20482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264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固定岗 ＋ 活动期弹性增援；见第 21–24 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5165" y="4333036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物料与出品成本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5165" y="4579620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671,746 元/年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5165" y="4891125"/>
            <a:ext cx="20482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264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豆料、乳制品、餐点、耗材；含效期损耗率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3149" y="4333036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能耗与加时费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3149" y="4579620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450,000 元/年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3149" y="4891125"/>
            <a:ext cx="20482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264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夜间与周末空调加时 —— 费率待向物业取价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1133" y="4333036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委外与分成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41133" y="4590288"/>
            <a:ext cx="914400" cy="182880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05141" y="4616653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口径待确认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1133" y="4891125"/>
            <a:ext cx="20482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264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咖啡出品与活动执行伙伴的分成或服务费 —— 是否已含在人力成本内待确认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9117" y="4333036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维保与折旧摊销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9117" y="4579620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184,997 元/年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9117" y="4891125"/>
            <a:ext cx="20482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264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设备维保 87,630 ＋ 折旧摊销 97,367；含附加税与财务费用 20,600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7181" y="54120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03　不进损益表、但必须计量的价值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7181" y="5727649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楼宇招商价值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7181" y="5915253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带看动线使用次数 · 因配套促成的租赁线索数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64661" y="5727649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集团客户经营价值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64661" y="5915253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承接集团客户活动场次 · 覆盖高价值客户人次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2141" y="5727649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品牌与传播价值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2141" y="5915253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在 84 层举办的对外活动数 · 媒体与自媒体曝光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59621" y="5727649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租户服务价值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59621" y="5915253"/>
            <a:ext cx="2551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楼内企业渗透率 · 租户满意度与续租关联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7181" y="6207861"/>
            <a:ext cx="1065184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这四项在第 34 页展开。它们不进损益表，但如果不计量，第 42 页「亏损值不值」的问题就无法回答。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7181" y="4684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 spc="10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209" y="45049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9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测算口径 · 已落数与待测算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181" y="6385575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spc="5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181" y="897331"/>
            <a:ext cx="1065184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还缺的是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四组数据</a:t>
            </a:r>
            <a:r>
              <a:rPr sz="22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，需要拍板的是</a:t>
            </a:r>
            <a:r>
              <a:rPr sz="22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六件事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" y="1974189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先 取 数   ·   四 组 数 据 分 别 向 谁 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767181" y="2176272"/>
            <a:ext cx="5303520" cy="7620"/>
          </a:xfrm>
          <a:prstGeom prst="rect">
            <a:avLst/>
          </a:prstGeom>
          <a:solidFill>
            <a:srgbClr val="DCD6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7181" y="232608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30764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84 层换乘与到访客流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2352" y="2350008"/>
            <a:ext cx="868680" cy="173736"/>
          </a:xfrm>
          <a:prstGeom prst="rect">
            <a:avLst/>
          </a:prstGeom>
          <a:solidFill>
            <a:srgbClr val="FBE7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7216" y="2376678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最关键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181" y="2572969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高区各层实际在册办公人数、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83/84 层闸机与梯控刷卡数据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、访客登记系统数据。这一组决定咖啡厅日均 3,000 元是否成立，也是全部测算的地基。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181" y="3062325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数据来源： 物业管理处（仲量联行）· 需正式函调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7181" y="3200400"/>
            <a:ext cx="530352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7181" y="322219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20375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空间实测与家具点数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3246120"/>
            <a:ext cx="868680" cy="173736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7216" y="3272790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图纸阶段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" y="3469081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竣工测绘面积、各分区实际净面积、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咖啡厅座位数与路演厅经疏散校核后的容量上限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。没有座位数，就没有翻台与产能测算，也无法校验第 38 页的客单价对照表。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" y="3958437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数据来源： 设计院与消防校核 · 随图纸深化产出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181" y="4096512"/>
            <a:ext cx="530352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" y="411830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09986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成本侧询价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2352" y="4142232"/>
            <a:ext cx="868680" cy="173736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4168902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招采阶段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81" y="4365193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豆料与餐点供应商报价、设备与维保报价、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夜间与周末空调加时费率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、委外伙伴分成比例。这一组直接决定第 39 页两项「可谈成本」能压到多少。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" y="4854549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数据来源： 供应商询价 ＋ 物业取价 ＋ 招采结果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7181" y="4992624"/>
            <a:ext cx="530352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7181" y="501441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499597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同类场地市场行情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02352" y="5038344"/>
            <a:ext cx="868680" cy="173736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57216" y="5065014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可先行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7181" y="5261305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深圳同区位、同量级会议与活动场地的</a:t>
            </a:r>
            <a:r>
              <a:rPr sz="700" b="1">
                <a:solidFill>
                  <a:srgbClr val="21303D"/>
                </a:solidFill>
                <a:latin typeface="Arial"/>
                <a:ea typeface="PingFang SC"/>
                <a:cs typeface="Arial"/>
              </a:rPr>
              <a:t>场租分档与服务包价区间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，用于校准我们的定价带，而非直接套用。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7181" y="5750661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数据来源： 公开渠道调研 ＋ 会务公司访谈 · 现在即可开始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7181" y="5888736"/>
            <a:ext cx="5303520" cy="6350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974189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10">
                <a:solidFill>
                  <a:srgbClr val="444A51"/>
                </a:solidFill>
                <a:latin typeface="Arial"/>
                <a:ea typeface="PingFang SC"/>
                <a:cs typeface="Arial"/>
              </a:rPr>
              <a:t>需 要 管 理 层 现 在 拍 板 的 六 件 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176272"/>
            <a:ext cx="4926787" cy="12700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34436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12864" y="2325928"/>
            <a:ext cx="45061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是否确认咖啡厅按「能力中心」而非「利润中心」考核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2864" y="2582113"/>
            <a:ext cx="45061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这决定它的人员编制与出品标准，也决定路演厅与整层商务体验能否成立。影响后续全部测算口径。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294787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12864" y="2929432"/>
            <a:ext cx="45061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是否采用 1＋2＋N 运营模式，而非整体委外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2864" y="3185617"/>
            <a:ext cx="45061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若确认，需在招采文件中写死客户名单与经营数据归我方独占等四项条款。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55137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2864" y="3532936"/>
            <a:ext cx="45061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是否将运营提资清单作为设计条件正式下发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12864" y="3789121"/>
            <a:ext cx="45061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并指定运营管理部为设计交底参会方。这一条有明确的时间窗，过期无法补救。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15488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12864" y="4136440"/>
            <a:ext cx="45061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集团内部使用的预约入口与结算口径由谁牵头确认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12864" y="4392625"/>
            <a:ext cx="45061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需集团行政、财务、合规三方参与，形成《84 层内部使用管理办法》。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75838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12864" y="4739944"/>
            <a:ext cx="45061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是否授权向物业正式函调客流与费率数据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12864" y="4996129"/>
            <a:ext cx="45061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没有这组数据，财务测算无法给出可信区间。建议本次会议后即启动。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36188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E646A"/>
                </a:solidFill>
                <a:latin typeface="Arial"/>
                <a:ea typeface="PingFang SC"/>
                <a:cs typeface="Arial"/>
              </a:rPr>
              <a:t>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12864" y="5343448"/>
            <a:ext cx="45061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运营团队的组建时点与编制来源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12864" y="5599633"/>
            <a:ext cx="45061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26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建议不晚于开业前 12 个月定人，否则六份运营文件与客源走访均无人承接。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7181" y="6035040"/>
            <a:ext cx="10651845" cy="292608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7181" y="6035040"/>
            <a:ext cx="25603" cy="292608"/>
          </a:xfrm>
          <a:prstGeom prst="rect">
            <a:avLst/>
          </a:prstGeom>
          <a:solidFill>
            <a:srgbClr val="E8631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2688" y="6111697"/>
            <a:ext cx="10332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1A25"/>
                </a:solidFill>
                <a:latin typeface="Arial"/>
                <a:ea typeface="PingFang SC"/>
                <a:cs typeface="Arial"/>
              </a:rPr>
              <a:t>建议的下一步 —— 本次汇报后两周内： </a:t>
            </a:r>
            <a:r>
              <a:rPr sz="700" b="0">
                <a:solidFill>
                  <a:srgbClr val="4E5B69"/>
                </a:solidFill>
                <a:latin typeface="Arial"/>
                <a:ea typeface="PingFang SC"/>
                <a:cs typeface="Arial"/>
              </a:rPr>
              <a:t>① 函调物业客流与费率数据；② 将运营提资清单并入设计条件下发；③ 就上述六项形成会议纪要并明确责任人。</a:t>
            </a:r>
            <a:r>
              <a:rPr sz="700" b="1">
                <a:solidFill>
                  <a:srgbClr val="A83F0F"/>
                </a:solidFill>
                <a:latin typeface="Arial"/>
                <a:ea typeface="PingFang SC"/>
                <a:cs typeface="Arial"/>
              </a:rPr>
              <a:t>三件事完成后，即可给出第二版可对账的财务测算。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695" y="1558899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60">
                <a:solidFill>
                  <a:srgbClr val="754525"/>
                </a:solidFill>
                <a:latin typeface="Arial"/>
                <a:ea typeface="PingFang SC"/>
                <a:cs typeface="Arial"/>
              </a:rPr>
              <a:t>C L O S I N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916228"/>
            <a:ext cx="2640787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177" y="1811731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衡量 84 层是否成功，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5177" y="242620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最后只看一件事：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177" y="303977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有多少客户，第二次回到这里。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46954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0">
                <a:solidFill>
                  <a:srgbClr val="754525"/>
                </a:solidFill>
                <a:latin typeface="Arial"/>
                <a:ea typeface="PingFang SC"/>
                <a:cs typeface="Arial"/>
              </a:rPr>
              <a:t>下 一 步   ·   建 议 本 次 汇 报 后 两 周 内 启 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507751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" y="526176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A9EA1"/>
                </a:solidFill>
                <a:latin typeface="Arial"/>
                <a:ea typeface="PingFang SC"/>
                <a:cs typeface="Arial"/>
              </a:rPr>
              <a:t>函调物业客流与费率数据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" y="5535625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A88"/>
                </a:solidFill>
                <a:latin typeface="Arial"/>
                <a:ea typeface="PingFang SC"/>
                <a:cs typeface="Arial"/>
              </a:rPr>
              <a:t>高区在册人数、83/84 层换乘刷卡数据、访客登记数据，以及夜间与周末空调加时费率。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" y="6061557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牵头： 运营管理部 · 需管理层授权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711" y="507751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8711" y="526176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A9EA1"/>
                </a:solidFill>
                <a:latin typeface="Arial"/>
                <a:ea typeface="PingFang SC"/>
                <a:cs typeface="Arial"/>
              </a:rPr>
              <a:t>把运营提资清单并入设计条件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711" y="5535625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A88"/>
                </a:solidFill>
                <a:latin typeface="Arial"/>
                <a:ea typeface="PingFang SC"/>
                <a:cs typeface="Arial"/>
              </a:rPr>
              <a:t>二十项运营条件正式下发设计团队，并指定运营管理部参加设计交底。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711" y="6061557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牵头： 运营管理部 ＋ 工程管理条线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3" y="507751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983" y="526176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A9EA1"/>
                </a:solidFill>
                <a:latin typeface="Arial"/>
                <a:ea typeface="PingFang SC"/>
                <a:cs typeface="Arial"/>
              </a:rPr>
              <a:t>就六项决策形成会议纪要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3" y="5535625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659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A88"/>
                </a:solidFill>
                <a:latin typeface="Arial"/>
                <a:ea typeface="PingFang SC"/>
                <a:cs typeface="Arial"/>
              </a:rPr>
              <a:t>考核口径、运营模式、设计条件、内部使用办法、数据授权、团队组建时点，逐项明确责任人与时限。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2983" y="6061557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E7183"/>
                </a:solidFill>
                <a:latin typeface="Arial"/>
                <a:ea typeface="PingFang SC"/>
                <a:cs typeface="Arial"/>
              </a:rPr>
              <a:t>牵头： 运营管理部 · 提请管理层确认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" y="6385102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5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695" y="1558899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60">
                <a:solidFill>
                  <a:srgbClr val="754525"/>
                </a:solidFill>
                <a:latin typeface="Arial"/>
                <a:ea typeface="PingFang SC"/>
                <a:cs typeface="Arial"/>
              </a:rPr>
              <a:t>C L O S I N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916228"/>
            <a:ext cx="2640787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>
                <a:solidFill>
                  <a:srgbClr val="ABABAB"/>
                </a:solidFill>
                <a:latin typeface="Arial"/>
                <a:ea typeface="PingFang SC"/>
                <a:cs typeface="Arial"/>
              </a:rPr>
              <a:t>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177" y="1981962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943E11"/>
                </a:solidFill>
                <a:latin typeface="Arial"/>
                <a:ea typeface="PingFang SC"/>
                <a:cs typeface="Arial"/>
              </a:rPr>
              <a:t>感谢聆听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4828032"/>
            <a:ext cx="10657332" cy="7620"/>
          </a:xfrm>
          <a:prstGeom prst="rect">
            <a:avLst/>
          </a:prstGeom>
          <a:solidFill>
            <a:srgbClr val="2A3A4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" y="5050993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342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C7A88"/>
                </a:solidFill>
                <a:latin typeface="Arial"/>
                <a:ea typeface="PingFang SC"/>
                <a:cs typeface="Arial"/>
              </a:rPr>
              <a:t>本版所有财务数字取自《84层咖啡厅&amp;路演厅5年收益测算》；市场数据取自莱坊《深圳甲级写字楼市场季度报告》2026 年第二季度；</a:t>
            </a:r>
            <a:r>
              <a:rPr sz="700" b="1">
                <a:solidFill>
                  <a:srgbClr val="C9500F"/>
                </a:solidFill>
                <a:latin typeface="Arial"/>
                <a:ea typeface="PingFang SC"/>
                <a:cs typeface="Arial"/>
              </a:rPr>
              <a:t>标注「待测算 / 待确认」的项目均无真实数据支撑，未作估算。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6385102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5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平安金融中心 84 层 · 咖啡厅与路演厅运营与发展规划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386916"/>
            <a:ext cx="10863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D6E80"/>
                </a:solidFill>
                <a:latin typeface="Arial"/>
                <a:ea typeface="PingFang SC"/>
                <a:cs typeface="Arial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平安金融中心84层 · 咖啡厅与路演厅运营与发展规划（正式汇报版）</dc:title>
  <dc:subject/>
  <dc:creator>运营管理部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